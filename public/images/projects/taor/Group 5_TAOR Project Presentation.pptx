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7" r:id="rId2"/>
    <p:sldId id="258" r:id="rId3"/>
    <p:sldId id="300" r:id="rId4"/>
    <p:sldId id="267" r:id="rId5"/>
    <p:sldId id="301" r:id="rId6"/>
    <p:sldId id="269" r:id="rId7"/>
    <p:sldId id="299" r:id="rId8"/>
    <p:sldId id="268" r:id="rId9"/>
    <p:sldId id="273" r:id="rId10"/>
    <p:sldId id="298" r:id="rId11"/>
    <p:sldId id="285" r:id="rId12"/>
    <p:sldId id="30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B2A9"/>
    <a:srgbClr val="E7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3979" autoAdjust="0"/>
  </p:normalViewPr>
  <p:slideViewPr>
    <p:cSldViewPr snapToGrid="0">
      <p:cViewPr varScale="1">
        <p:scale>
          <a:sx n="70" d="100"/>
          <a:sy n="70" d="100"/>
        </p:scale>
        <p:origin x="5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0CF77-ED5A-418D-B550-2D3CC31779F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693F1-7848-4255-BDC8-E50984CEF7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9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team set out to try to answer questions from the “Time” related scenario group. We aimed to reduce teaching hours daily to 9-5. We set a goal of average room utilization of 75%, guaranteeing a 1 hour lunch break anytime between 12-2pm, and with the background/undercurrent motivator of minimizing clashes including optional courses across schools.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1603DEDC-BA1A-5AF9-C022-5EE1627BA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99f2f57a71_0_184:notes">
            <a:extLst>
              <a:ext uri="{FF2B5EF4-FFF2-40B4-BE49-F238E27FC236}">
                <a16:creationId xmlns:a16="http://schemas.microsoft.com/office/drawing/2014/main" id="{BD1B0E4D-B91B-EFD4-5BB6-1608CD5F1C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99f2f57a71_0_184:notes">
            <a:extLst>
              <a:ext uri="{FF2B5EF4-FFF2-40B4-BE49-F238E27FC236}">
                <a16:creationId xmlns:a16="http://schemas.microsoft.com/office/drawing/2014/main" id="{5603DF46-CCAB-C401-4357-86D5EC4599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5843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f080b61eb8_3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f080b61eb8_3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Violations of the daily end time are from the med school which requires too much time for certain courses.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9233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Violations of the daily end time are from the med school which requires too much time for certain courses.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E0942665-59C7-E10D-29B8-B01F1FBF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99f2f57a71_0_115:notes">
            <a:extLst>
              <a:ext uri="{FF2B5EF4-FFF2-40B4-BE49-F238E27FC236}">
                <a16:creationId xmlns:a16="http://schemas.microsoft.com/office/drawing/2014/main" id="{936EEF14-609E-1BB1-33AB-63E9A4788C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99f2f57a71_0_115:notes">
            <a:extLst>
              <a:ext uri="{FF2B5EF4-FFF2-40B4-BE49-F238E27FC236}">
                <a16:creationId xmlns:a16="http://schemas.microsoft.com/office/drawing/2014/main" id="{4619A209-0849-0736-C646-E4E41643B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8658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bd6c00e73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bd6c00e73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f080b61eb8_3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f080b61eb8_3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82600" indent="-342900">
              <a:buFont typeface="Arial" panose="020B0604020202020204" pitchFamily="34" charset="0"/>
              <a:buChar char="•"/>
            </a:pPr>
            <a:r>
              <a:rPr lang="en-GB" sz="1200" kern="0" dirty="0">
                <a:latin typeface="Arial" panose="020B0604020202020204" pitchFamily="34" charset="0"/>
                <a:cs typeface="Arial" panose="020B0604020202020204" pitchFamily="34" charset="0"/>
              </a:rPr>
              <a:t>Suitability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n-GB" sz="1200" kern="0" dirty="0">
                <a:latin typeface="Arial" panose="020B0604020202020204" pitchFamily="34" charset="0"/>
                <a:cs typeface="Arial" panose="020B0604020202020204" pitchFamily="34" charset="0"/>
              </a:rPr>
              <a:t>Formulation?</a:t>
            </a:r>
          </a:p>
          <a:p>
            <a:pPr marL="482600" indent="-342900">
              <a:buFont typeface="Arial" panose="020B0604020202020204" pitchFamily="34" charset="0"/>
              <a:buChar char="•"/>
            </a:pPr>
            <a:r>
              <a:rPr lang="en-GB" sz="1200" kern="0" dirty="0">
                <a:latin typeface="Arial" panose="020B0604020202020204" pitchFamily="34" charset="0"/>
                <a:cs typeface="Arial" panose="020B0604020202020204" pitchFamily="34" charset="0"/>
              </a:rPr>
              <a:t>Constraints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>
          <a:extLst>
            <a:ext uri="{FF2B5EF4-FFF2-40B4-BE49-F238E27FC236}">
              <a16:creationId xmlns:a16="http://schemas.microsoft.com/office/drawing/2014/main" id="{095537A0-B858-1B9B-1FA2-6CE63B7A6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99f2f57a71_0_115:notes">
            <a:extLst>
              <a:ext uri="{FF2B5EF4-FFF2-40B4-BE49-F238E27FC236}">
                <a16:creationId xmlns:a16="http://schemas.microsoft.com/office/drawing/2014/main" id="{D2E387B8-9B48-D28A-3AE4-FC898F3FD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99f2f57a71_0_115:notes">
            <a:extLst>
              <a:ext uri="{FF2B5EF4-FFF2-40B4-BE49-F238E27FC236}">
                <a16:creationId xmlns:a16="http://schemas.microsoft.com/office/drawing/2014/main" id="{50034554-E559-FBE7-DD63-998C74487C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5154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99f2f57a71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99f2f57a71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f080b61eb8_3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f080b61eb8_3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47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-325283" y="-124497"/>
            <a:ext cx="1141217" cy="3466973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10;p2"/>
          <p:cNvSpPr/>
          <p:nvPr/>
        </p:nvSpPr>
        <p:spPr>
          <a:xfrm flipH="1">
            <a:off x="10558853" y="-371471"/>
            <a:ext cx="1845280" cy="1242804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/>
          <p:nvPr/>
        </p:nvSpPr>
        <p:spPr>
          <a:xfrm flipH="1">
            <a:off x="10086540" y="-124499"/>
            <a:ext cx="2306763" cy="2726116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50800" y="1974740"/>
            <a:ext cx="9088800" cy="321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10133">
                <a:latin typeface="+mj-lt"/>
                <a:cs typeface="Arial" panose="020B060402020202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950800" y="5327384"/>
            <a:ext cx="60384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latin typeface="+mn-l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9211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/>
          <p:nvPr/>
        </p:nvSpPr>
        <p:spPr>
          <a:xfrm rot="-1236882">
            <a:off x="-1323781" y="-268539"/>
            <a:ext cx="3165524" cy="3741205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" name="Google Shape;38;p6"/>
          <p:cNvSpPr/>
          <p:nvPr/>
        </p:nvSpPr>
        <p:spPr>
          <a:xfrm rot="-2700000">
            <a:off x="-2228872" y="-850379"/>
            <a:ext cx="3057616" cy="3446675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6"/>
          <p:cNvSpPr/>
          <p:nvPr/>
        </p:nvSpPr>
        <p:spPr>
          <a:xfrm rot="1315565" flipH="1">
            <a:off x="10428295" y="-148866"/>
            <a:ext cx="3165556" cy="374124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960000" y="694967"/>
            <a:ext cx="10272000" cy="7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2858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 rot="-784685" flipH="1">
            <a:off x="10311434" y="-1196555"/>
            <a:ext cx="1659977" cy="439536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72;p13"/>
          <p:cNvSpPr/>
          <p:nvPr/>
        </p:nvSpPr>
        <p:spPr>
          <a:xfrm rot="-1783285">
            <a:off x="10563509" y="-1860927"/>
            <a:ext cx="1374769" cy="4176496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73;p13"/>
          <p:cNvSpPr/>
          <p:nvPr/>
        </p:nvSpPr>
        <p:spPr>
          <a:xfrm flipH="1">
            <a:off x="-442401" y="-2241767"/>
            <a:ext cx="1619168" cy="5336853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960000" y="694967"/>
            <a:ext cx="10272000" cy="7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6991600" y="1971667"/>
            <a:ext cx="4240400" cy="4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1431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 rot="-784685" flipH="1">
            <a:off x="10311449" y="-485355"/>
            <a:ext cx="1659977" cy="4395361"/>
          </a:xfrm>
          <a:custGeom>
            <a:avLst/>
            <a:gdLst/>
            <a:ahLst/>
            <a:cxnLst/>
            <a:rect l="l" t="t" r="r" b="b"/>
            <a:pathLst>
              <a:path w="20548" h="52504" extrusionOk="0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5" name="Google Shape;95;p15"/>
          <p:cNvSpPr/>
          <p:nvPr/>
        </p:nvSpPr>
        <p:spPr>
          <a:xfrm rot="-1783285">
            <a:off x="10868324" y="-1048127"/>
            <a:ext cx="1374769" cy="4176496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" name="Google Shape;96;p15"/>
          <p:cNvSpPr/>
          <p:nvPr/>
        </p:nvSpPr>
        <p:spPr>
          <a:xfrm flipH="1">
            <a:off x="-544501" y="-232035"/>
            <a:ext cx="1619168" cy="5504696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1876400" y="1585467"/>
            <a:ext cx="8439200" cy="2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0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98" name="Google Shape;98;p15"/>
          <p:cNvSpPr txBox="1">
            <a:spLocks noGrp="1"/>
          </p:cNvSpPr>
          <p:nvPr>
            <p:ph type="subTitle" idx="1"/>
          </p:nvPr>
        </p:nvSpPr>
        <p:spPr>
          <a:xfrm>
            <a:off x="2678600" y="4204667"/>
            <a:ext cx="6834800" cy="10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5902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/>
          <p:nvPr/>
        </p:nvSpPr>
        <p:spPr>
          <a:xfrm rot="-1532380">
            <a:off x="-1313046" y="33393"/>
            <a:ext cx="3283692" cy="4639011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" name="Google Shape;101;p16"/>
          <p:cNvSpPr/>
          <p:nvPr/>
        </p:nvSpPr>
        <p:spPr>
          <a:xfrm>
            <a:off x="-2330466" y="-454219"/>
            <a:ext cx="3057695" cy="4378283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102;p16"/>
          <p:cNvSpPr/>
          <p:nvPr/>
        </p:nvSpPr>
        <p:spPr>
          <a:xfrm rot="1315565" flipH="1">
            <a:off x="10663229" y="-642566"/>
            <a:ext cx="3165556" cy="374124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5427600" y="4154217"/>
            <a:ext cx="5813600" cy="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1"/>
          </p:nvPr>
        </p:nvSpPr>
        <p:spPr>
          <a:xfrm>
            <a:off x="2319600" y="2015084"/>
            <a:ext cx="8921600" cy="197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3000"/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1587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1_Title and text 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 rot="2539665" flipH="1">
            <a:off x="10603735" y="89578"/>
            <a:ext cx="2532287" cy="1259236"/>
          </a:xfrm>
          <a:custGeom>
            <a:avLst/>
            <a:gdLst/>
            <a:ahLst/>
            <a:cxnLst/>
            <a:rect l="l" t="t" r="r" b="b"/>
            <a:pathLst>
              <a:path w="31345" h="15587" extrusionOk="0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" name="Google Shape;119;p19"/>
          <p:cNvSpPr/>
          <p:nvPr/>
        </p:nvSpPr>
        <p:spPr>
          <a:xfrm rot="-1669522" flipH="1">
            <a:off x="-1487491" y="-492875"/>
            <a:ext cx="2765852" cy="2936072"/>
          </a:xfrm>
          <a:custGeom>
            <a:avLst/>
            <a:gdLst/>
            <a:ahLst/>
            <a:cxnLst/>
            <a:rect l="l" t="t" r="r" b="b"/>
            <a:pathLst>
              <a:path w="34236" h="36343" extrusionOk="0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9"/>
          <p:cNvSpPr/>
          <p:nvPr/>
        </p:nvSpPr>
        <p:spPr>
          <a:xfrm rot="-1532380">
            <a:off x="-2141713" y="-857607"/>
            <a:ext cx="3283692" cy="4639011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959867" y="2044600"/>
            <a:ext cx="10272000" cy="41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1219170" lvl="1" indent="-4233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828754" lvl="2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2438339" lvl="3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3047924" lvl="4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3657509" lvl="5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4267093" lvl="6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4876678" lvl="7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5486263" lvl="8" indent="-423323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3517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/>
          <p:nvPr/>
        </p:nvSpPr>
        <p:spPr>
          <a:xfrm rot="1236882" flipH="1">
            <a:off x="10240613" y="137862"/>
            <a:ext cx="3165524" cy="3741205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" name="Google Shape;125;p20"/>
          <p:cNvSpPr/>
          <p:nvPr/>
        </p:nvSpPr>
        <p:spPr>
          <a:xfrm flipH="1">
            <a:off x="11355111" y="-647216"/>
            <a:ext cx="3057695" cy="3446763"/>
          </a:xfrm>
          <a:custGeom>
            <a:avLst/>
            <a:gdLst/>
            <a:ahLst/>
            <a:cxnLst/>
            <a:rect l="l" t="t" r="r" b="b"/>
            <a:pathLst>
              <a:path w="37849" h="42665" extrusionOk="0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" name="Google Shape;126;p20"/>
          <p:cNvSpPr/>
          <p:nvPr/>
        </p:nvSpPr>
        <p:spPr>
          <a:xfrm rot="-1315565">
            <a:off x="-1340029" y="-642566"/>
            <a:ext cx="3165556" cy="3741244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960000" y="4417300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 dirty="0"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1"/>
          </p:nvPr>
        </p:nvSpPr>
        <p:spPr>
          <a:xfrm>
            <a:off x="960000" y="4958067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title" idx="2"/>
          </p:nvPr>
        </p:nvSpPr>
        <p:spPr>
          <a:xfrm>
            <a:off x="4645892" y="2500817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 dirty="0"/>
          </a:p>
        </p:txBody>
      </p:sp>
      <p:sp>
        <p:nvSpPr>
          <p:cNvPr id="130" name="Google Shape;130;p20"/>
          <p:cNvSpPr txBox="1">
            <a:spLocks noGrp="1"/>
          </p:cNvSpPr>
          <p:nvPr>
            <p:ph type="subTitle" idx="3"/>
          </p:nvPr>
        </p:nvSpPr>
        <p:spPr>
          <a:xfrm>
            <a:off x="4645895" y="3026384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title" idx="4"/>
          </p:nvPr>
        </p:nvSpPr>
        <p:spPr>
          <a:xfrm>
            <a:off x="8340795" y="4447700"/>
            <a:ext cx="29004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endParaRPr dirty="0"/>
          </a:p>
        </p:txBody>
      </p:sp>
      <p:sp>
        <p:nvSpPr>
          <p:cNvPr id="132" name="Google Shape;132;p20"/>
          <p:cNvSpPr txBox="1">
            <a:spLocks noGrp="1"/>
          </p:cNvSpPr>
          <p:nvPr>
            <p:ph type="subTitle" idx="5"/>
          </p:nvPr>
        </p:nvSpPr>
        <p:spPr>
          <a:xfrm>
            <a:off x="8340799" y="4958067"/>
            <a:ext cx="2900400" cy="11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title" idx="6"/>
          </p:nvPr>
        </p:nvSpPr>
        <p:spPr>
          <a:xfrm>
            <a:off x="960000" y="694967"/>
            <a:ext cx="10272000" cy="76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1546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/>
          <p:nvPr/>
        </p:nvSpPr>
        <p:spPr>
          <a:xfrm flipH="1">
            <a:off x="10499226" y="-183967"/>
            <a:ext cx="3308175" cy="3925236"/>
          </a:xfrm>
          <a:custGeom>
            <a:avLst/>
            <a:gdLst/>
            <a:ahLst/>
            <a:cxnLst/>
            <a:rect l="l" t="t" r="r" b="b"/>
            <a:pathLst>
              <a:path w="39184" h="46310" extrusionOk="0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6" name="Google Shape;216;p28"/>
          <p:cNvSpPr/>
          <p:nvPr/>
        </p:nvSpPr>
        <p:spPr>
          <a:xfrm rot="2700000">
            <a:off x="126368" y="-858306"/>
            <a:ext cx="1374712" cy="4176321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7" name="Google Shape;217;p28"/>
          <p:cNvSpPr/>
          <p:nvPr/>
        </p:nvSpPr>
        <p:spPr>
          <a:xfrm>
            <a:off x="11435655" y="-877733"/>
            <a:ext cx="1374747" cy="4176428"/>
          </a:xfrm>
          <a:custGeom>
            <a:avLst/>
            <a:gdLst/>
            <a:ahLst/>
            <a:cxnLst/>
            <a:rect l="l" t="t" r="r" b="b"/>
            <a:pathLst>
              <a:path w="17017" h="51697" extrusionOk="0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8" name="Google Shape;218;p28"/>
          <p:cNvSpPr txBox="1">
            <a:spLocks noGrp="1"/>
          </p:cNvSpPr>
          <p:nvPr>
            <p:ph type="title"/>
          </p:nvPr>
        </p:nvSpPr>
        <p:spPr>
          <a:xfrm>
            <a:off x="960000" y="500383"/>
            <a:ext cx="5726400" cy="11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667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219" name="Google Shape;219;p28"/>
          <p:cNvSpPr txBox="1">
            <a:spLocks noGrp="1"/>
          </p:cNvSpPr>
          <p:nvPr>
            <p:ph type="subTitle" idx="1"/>
          </p:nvPr>
        </p:nvSpPr>
        <p:spPr>
          <a:xfrm>
            <a:off x="950800" y="1858692"/>
            <a:ext cx="45796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2154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180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B06F7-8C12-E829-335C-ADAF1C0D0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54276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B10A8-C84D-E5A5-FAED-39AA89A18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6952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125464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71" r:id="rId3"/>
    <p:sldLayoutId id="2147483673" r:id="rId4"/>
    <p:sldLayoutId id="2147483674" r:id="rId5"/>
    <p:sldLayoutId id="2147483677" r:id="rId6"/>
    <p:sldLayoutId id="2147483678" r:id="rId7"/>
    <p:sldLayoutId id="2147483686" r:id="rId8"/>
    <p:sldLayoutId id="2147483687" r:id="rId9"/>
    <p:sldLayoutId id="2147483692" r:id="rId10"/>
    <p:sldLayoutId id="214748369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+mn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>
            <a:spLocks noGrp="1"/>
          </p:cNvSpPr>
          <p:nvPr>
            <p:ph type="ctrTitle"/>
          </p:nvPr>
        </p:nvSpPr>
        <p:spPr/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GB" dirty="0"/>
              <a:t>Timetabling Improvements</a:t>
            </a:r>
            <a:endParaRPr lang="en-GB" noProof="0" dirty="0"/>
          </a:p>
        </p:txBody>
      </p:sp>
      <p:sp>
        <p:nvSpPr>
          <p:cNvPr id="233" name="Google Shape;233;p33"/>
          <p:cNvSpPr txBox="1">
            <a:spLocks noGrp="1"/>
          </p:cNvSpPr>
          <p:nvPr>
            <p:ph type="subTitle" idx="1"/>
          </p:nvPr>
        </p:nvSpPr>
        <p:spPr>
          <a:xfrm>
            <a:off x="577575" y="5366164"/>
            <a:ext cx="8512628" cy="635000"/>
          </a:xfr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GB" noProof="0" dirty="0"/>
              <a:t>Ben de Sousa, Alexandros </a:t>
            </a:r>
            <a:r>
              <a:rPr lang="en-GB" noProof="0" dirty="0" err="1"/>
              <a:t>Zachakos</a:t>
            </a:r>
            <a:r>
              <a:rPr lang="en-GB" noProof="0" dirty="0"/>
              <a:t>, Nolan Willoughby,</a:t>
            </a:r>
          </a:p>
        </p:txBody>
      </p:sp>
      <p:cxnSp>
        <p:nvCxnSpPr>
          <p:cNvPr id="234" name="Google Shape;234;p33"/>
          <p:cNvCxnSpPr>
            <a:cxnSpLocks/>
          </p:cNvCxnSpPr>
          <p:nvPr/>
        </p:nvCxnSpPr>
        <p:spPr>
          <a:xfrm>
            <a:off x="-442400" y="6491396"/>
            <a:ext cx="9186351" cy="4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233;p33">
            <a:extLst>
              <a:ext uri="{FF2B5EF4-FFF2-40B4-BE49-F238E27FC236}">
                <a16:creationId xmlns:a16="http://schemas.microsoft.com/office/drawing/2014/main" id="{A16D7F8E-B3DE-BCEC-74F7-932B22C214E1}"/>
              </a:ext>
            </a:extLst>
          </p:cNvPr>
          <p:cNvSpPr txBox="1">
            <a:spLocks/>
          </p:cNvSpPr>
          <p:nvPr/>
        </p:nvSpPr>
        <p:spPr>
          <a:xfrm>
            <a:off x="577575" y="5770084"/>
            <a:ext cx="8512628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+mn-lt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None/>
              <a:defRPr sz="24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en-GB" kern="0" dirty="0"/>
              <a:t>Todd House, and Conor McArthur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1875367" y="1585385"/>
            <a:ext cx="8441267" cy="2618316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sz="7200" b="1" noProof="0" dirty="0"/>
              <a:t>Time Goals</a:t>
            </a:r>
          </a:p>
        </p:txBody>
      </p:sp>
      <p:sp>
        <p:nvSpPr>
          <p:cNvPr id="249" name="Google Shape;249;p35"/>
          <p:cNvSpPr txBox="1">
            <a:spLocks noGrp="1"/>
          </p:cNvSpPr>
          <p:nvPr>
            <p:ph type="subTitle" idx="1"/>
          </p:nvPr>
        </p:nvSpPr>
        <p:spPr>
          <a:xfrm>
            <a:off x="687044" y="4495890"/>
            <a:ext cx="11202155" cy="10689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82600" lvl="0" indent="-342900" algn="l"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Reduction in core hours to 9am-5pm </a:t>
            </a:r>
          </a:p>
          <a:p>
            <a:pPr marL="482600" lvl="0" indent="-342900" algn="l"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Average room utilisation of 75% of timetable slots </a:t>
            </a:r>
          </a:p>
          <a:p>
            <a:pPr marL="482600" lvl="0" indent="-342900" algn="l"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1-hour Lunch break between 12-2pm</a:t>
            </a:r>
          </a:p>
          <a:p>
            <a:pPr marL="482600" lvl="0" indent="-342900" algn="l">
              <a:buFont typeface="Arial" panose="020B0604020202020204" pitchFamily="34" charset="0"/>
              <a:buChar char="•"/>
            </a:pPr>
            <a:r>
              <a:rPr lang="en-GB" noProof="0" dirty="0">
                <a:latin typeface="Arial" panose="020B0604020202020204" pitchFamily="34" charset="0"/>
                <a:cs typeface="Arial" panose="020B0604020202020204" pitchFamily="34" charset="0"/>
              </a:rPr>
              <a:t>Minimisation of clashes</a:t>
            </a:r>
          </a:p>
        </p:txBody>
      </p:sp>
      <p:cxnSp>
        <p:nvCxnSpPr>
          <p:cNvPr id="250" name="Google Shape;250;p35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EF9533C5-A842-4488-282C-AC84E40D7F4D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52F3BA4-8512-9350-A793-6245E118B354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6CDD0478-146E-8498-3D43-CD0EAC6BD2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9508097B-F715-7596-1333-824FF2B80D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44EBB5A4-333C-B5D3-05A8-80E4E808B2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E062B81D-B0F0-360B-EEA7-5FF53575FF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0C06AB0-E7E5-9E53-45F6-6C82B4CFD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C57B1B3A-66D9-7AB6-8A4B-6D8110C000C4}"/>
              </a:ext>
            </a:extLst>
          </p:cNvPr>
          <p:cNvSpPr/>
          <p:nvPr/>
        </p:nvSpPr>
        <p:spPr>
          <a:xfrm>
            <a:off x="10039600" y="608355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66DC6A56-BD65-138F-B907-21EC6538D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0" name="Google Shape;250;p35">
            <a:extLst>
              <a:ext uri="{FF2B5EF4-FFF2-40B4-BE49-F238E27FC236}">
                <a16:creationId xmlns:a16="http://schemas.microsoft.com/office/drawing/2014/main" id="{2D398CDD-D5C5-D645-D923-932B32985CB9}"/>
              </a:ext>
            </a:extLst>
          </p:cNvPr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A92B6B83-4761-559D-6958-E7B1AADFB222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4E20564-9732-901C-3467-AA4AA78F3CD9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728E42E-2781-6F74-CB55-F3C1F0DCFA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1617D3B2-DD2E-3A66-3E2A-E5CA4E9624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6754BFB7-36CE-CBA2-2E5D-F4E4690478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C68DC9F-9374-A981-B6BF-7E3CFD4019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D48A55D-22AD-E5ED-2661-5485BED50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5530024-584C-B107-EBAF-D97A5DDFD456}"/>
              </a:ext>
            </a:extLst>
          </p:cNvPr>
          <p:cNvSpPr/>
          <p:nvPr/>
        </p:nvSpPr>
        <p:spPr>
          <a:xfrm>
            <a:off x="10039600" y="608355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Google Shape;397;p44">
            <a:extLst>
              <a:ext uri="{FF2B5EF4-FFF2-40B4-BE49-F238E27FC236}">
                <a16:creationId xmlns:a16="http://schemas.microsoft.com/office/drawing/2014/main" id="{50E1D90B-270F-B43A-EE5B-AA55EBF60C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967" y="694267"/>
            <a:ext cx="3272705" cy="7641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sz="3600" noProof="0" dirty="0"/>
              <a:t>Motivation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55E9BCB-9BFF-4C24-8181-8CE18787E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6584" y="1460371"/>
            <a:ext cx="7130031" cy="498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077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"/>
          <p:cNvSpPr txBox="1">
            <a:spLocks noGrp="1"/>
          </p:cNvSpPr>
          <p:nvPr>
            <p:ph type="title"/>
          </p:nvPr>
        </p:nvSpPr>
        <p:spPr>
          <a:xfrm>
            <a:off x="960967" y="694267"/>
            <a:ext cx="10270067" cy="7641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Methods</a:t>
            </a:r>
          </a:p>
        </p:txBody>
      </p:sp>
      <p:sp>
        <p:nvSpPr>
          <p:cNvPr id="399" name="Google Shape;399;p44"/>
          <p:cNvSpPr txBox="1">
            <a:spLocks noGrp="1"/>
          </p:cNvSpPr>
          <p:nvPr>
            <p:ph type="subTitle" idx="1"/>
          </p:nvPr>
        </p:nvSpPr>
        <p:spPr>
          <a:xfrm>
            <a:off x="4849301" y="3732633"/>
            <a:ext cx="2050422" cy="2937400"/>
          </a:xfr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39700" lvl="0" indent="0" algn="ctr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Vet School tuning</a:t>
            </a:r>
          </a:p>
          <a:p>
            <a:pPr lvl="0" algn="ctr"/>
            <a:r>
              <a:rPr lang="en-GB" noProof="0" dirty="0"/>
              <a:t> </a:t>
            </a:r>
          </a:p>
        </p:txBody>
      </p:sp>
      <p:cxnSp>
        <p:nvCxnSpPr>
          <p:cNvPr id="400" name="Google Shape;400;p44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142876-E108-6E6B-037E-07BE700FCE48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A18A93D-34B1-CD3F-4FDD-EFF48F26CC0A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D29E1D4-DA4A-3564-192C-B6AA22DBE3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82FE823A-2479-BAB7-EE47-8E9FEF13E6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95586DA9-9E9D-F840-28D0-A05D26E3E4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B434AAE8-0D95-C8DD-AFDF-F21181BFA8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3607639-F642-E8E1-F182-647FC9407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6F1B3C-858F-1141-9826-D3D683D6A258}"/>
              </a:ext>
            </a:extLst>
          </p:cNvPr>
          <p:cNvSpPr/>
          <p:nvPr/>
        </p:nvSpPr>
        <p:spPr>
          <a:xfrm>
            <a:off x="10543779" y="605797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DF55E71-F504-3936-2F4A-FC77CD9D6FA5}"/>
              </a:ext>
            </a:extLst>
          </p:cNvPr>
          <p:cNvGrpSpPr/>
          <p:nvPr/>
        </p:nvGrpSpPr>
        <p:grpSpPr>
          <a:xfrm>
            <a:off x="707520" y="1820161"/>
            <a:ext cx="10776959" cy="1483846"/>
            <a:chOff x="454075" y="4458505"/>
            <a:chExt cx="10776959" cy="1483846"/>
          </a:xfrm>
        </p:grpSpPr>
        <p:grpSp>
          <p:nvGrpSpPr>
            <p:cNvPr id="19" name="Google Shape;4185;p71">
              <a:extLst>
                <a:ext uri="{FF2B5EF4-FFF2-40B4-BE49-F238E27FC236}">
                  <a16:creationId xmlns:a16="http://schemas.microsoft.com/office/drawing/2014/main" id="{33B1C2E5-BA46-F71C-B735-7574B1061117}"/>
                </a:ext>
              </a:extLst>
            </p:cNvPr>
            <p:cNvGrpSpPr/>
            <p:nvPr/>
          </p:nvGrpSpPr>
          <p:grpSpPr>
            <a:xfrm>
              <a:off x="454075" y="4458505"/>
              <a:ext cx="10776959" cy="1483846"/>
              <a:chOff x="238125" y="2506075"/>
              <a:chExt cx="7115411" cy="673075"/>
            </a:xfrm>
          </p:grpSpPr>
          <p:sp>
            <p:nvSpPr>
              <p:cNvPr id="20" name="Google Shape;4186;p71">
                <a:extLst>
                  <a:ext uri="{FF2B5EF4-FFF2-40B4-BE49-F238E27FC236}">
                    <a16:creationId xmlns:a16="http://schemas.microsoft.com/office/drawing/2014/main" id="{00B42F2D-55B6-1B73-26F9-EABBFA10CAB9}"/>
                  </a:ext>
                </a:extLst>
              </p:cNvPr>
              <p:cNvSpPr/>
              <p:nvPr/>
            </p:nvSpPr>
            <p:spPr>
              <a:xfrm>
                <a:off x="238125" y="2506075"/>
                <a:ext cx="1643150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26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43" y="26923"/>
                    </a:lnTo>
                    <a:lnTo>
                      <a:pt x="65725" y="13477"/>
                    </a:lnTo>
                    <a:lnTo>
                      <a:pt x="54943" y="0"/>
                    </a:lnTo>
                    <a:close/>
                  </a:path>
                </a:pathLst>
              </a:custGeom>
              <a:solidFill>
                <a:srgbClr val="B4B2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187;p71">
                <a:extLst>
                  <a:ext uri="{FF2B5EF4-FFF2-40B4-BE49-F238E27FC236}">
                    <a16:creationId xmlns:a16="http://schemas.microsoft.com/office/drawing/2014/main" id="{8B676551-B31B-0538-4AAE-62156ECA4436}"/>
                  </a:ext>
                </a:extLst>
              </p:cNvPr>
              <p:cNvSpPr/>
              <p:nvPr/>
            </p:nvSpPr>
            <p:spPr>
              <a:xfrm>
                <a:off x="1606190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188;p71">
                <a:extLst>
                  <a:ext uri="{FF2B5EF4-FFF2-40B4-BE49-F238E27FC236}">
                    <a16:creationId xmlns:a16="http://schemas.microsoft.com/office/drawing/2014/main" id="{BA0652E6-47C4-8E0B-92E3-B9D4D44D5F87}"/>
                  </a:ext>
                </a:extLst>
              </p:cNvPr>
              <p:cNvSpPr/>
              <p:nvPr/>
            </p:nvSpPr>
            <p:spPr>
              <a:xfrm>
                <a:off x="2973481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rgbClr val="B4B2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189;p71">
                <a:extLst>
                  <a:ext uri="{FF2B5EF4-FFF2-40B4-BE49-F238E27FC236}">
                    <a16:creationId xmlns:a16="http://schemas.microsoft.com/office/drawing/2014/main" id="{B8DDC498-793F-AD30-6F5D-3292A458FE97}"/>
                  </a:ext>
                </a:extLst>
              </p:cNvPr>
              <p:cNvSpPr/>
              <p:nvPr/>
            </p:nvSpPr>
            <p:spPr>
              <a:xfrm>
                <a:off x="5709611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rgbClr val="B4B2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4190;p71">
                <a:extLst>
                  <a:ext uri="{FF2B5EF4-FFF2-40B4-BE49-F238E27FC236}">
                    <a16:creationId xmlns:a16="http://schemas.microsoft.com/office/drawing/2014/main" id="{28C2AD15-B4B9-5AC9-E626-E51048898730}"/>
                  </a:ext>
                </a:extLst>
              </p:cNvPr>
              <p:cNvSpPr/>
              <p:nvPr/>
            </p:nvSpPr>
            <p:spPr>
              <a:xfrm>
                <a:off x="4342321" y="2506075"/>
                <a:ext cx="1643150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26" h="26923" extrusionOk="0">
                    <a:moveTo>
                      <a:pt x="1" y="0"/>
                    </a:moveTo>
                    <a:lnTo>
                      <a:pt x="10751" y="13477"/>
                    </a:lnTo>
                    <a:lnTo>
                      <a:pt x="1" y="26923"/>
                    </a:lnTo>
                    <a:lnTo>
                      <a:pt x="54944" y="26923"/>
                    </a:lnTo>
                    <a:lnTo>
                      <a:pt x="65726" y="13477"/>
                    </a:lnTo>
                    <a:lnTo>
                      <a:pt x="54944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763FCD0-94BE-A2DD-8602-7F2C74FB8206}"/>
                </a:ext>
              </a:extLst>
            </p:cNvPr>
            <p:cNvSpPr txBox="1"/>
            <p:nvPr/>
          </p:nvSpPr>
          <p:spPr>
            <a:xfrm>
              <a:off x="5238750" y="5015762"/>
              <a:ext cx="15144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GB" noProof="0" dirty="0"/>
                <a:t>Vet School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DF1A75-A4B6-2428-F650-2C5143D83ADF}"/>
                </a:ext>
              </a:extLst>
            </p:cNvPr>
            <p:cNvSpPr txBox="1"/>
            <p:nvPr/>
          </p:nvSpPr>
          <p:spPr>
            <a:xfrm>
              <a:off x="1010491" y="4742112"/>
              <a:ext cx="1514475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US" noProof="0" dirty="0"/>
                <a:t>Lit. Review &amp; Data Processing</a:t>
              </a:r>
              <a:endParaRPr lang="en-GB" noProof="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6684545-B64D-A247-6961-A5E9C261E230}"/>
                </a:ext>
              </a:extLst>
            </p:cNvPr>
            <p:cNvSpPr txBox="1"/>
            <p:nvPr/>
          </p:nvSpPr>
          <p:spPr>
            <a:xfrm>
              <a:off x="3012666" y="4877262"/>
              <a:ext cx="151447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US" noProof="0" dirty="0"/>
                <a:t>Model Formulation</a:t>
              </a:r>
              <a:endParaRPr lang="en-GB" noProof="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81F05FA-99A6-76E7-7798-E6AFA5D2EC59}"/>
                </a:ext>
              </a:extLst>
            </p:cNvPr>
            <p:cNvSpPr txBox="1"/>
            <p:nvPr/>
          </p:nvSpPr>
          <p:spPr>
            <a:xfrm>
              <a:off x="7427503" y="4908878"/>
              <a:ext cx="151447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GB" noProof="0" dirty="0"/>
                <a:t>Multiple Schools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CD9F22A-B9C7-1A03-D4CA-9D954F915D04}"/>
                </a:ext>
              </a:extLst>
            </p:cNvPr>
            <p:cNvSpPr txBox="1"/>
            <p:nvPr/>
          </p:nvSpPr>
          <p:spPr>
            <a:xfrm>
              <a:off x="9278270" y="5047378"/>
              <a:ext cx="16739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GB" noProof="0" dirty="0"/>
                <a:t>Improvements</a:t>
              </a:r>
            </a:p>
          </p:txBody>
        </p:sp>
      </p:grpSp>
      <p:sp>
        <p:nvSpPr>
          <p:cNvPr id="2" name="Google Shape;399;p44">
            <a:extLst>
              <a:ext uri="{FF2B5EF4-FFF2-40B4-BE49-F238E27FC236}">
                <a16:creationId xmlns:a16="http://schemas.microsoft.com/office/drawing/2014/main" id="{ED325A0F-9A21-455F-BEDC-61B0B74AAC1D}"/>
              </a:ext>
            </a:extLst>
          </p:cNvPr>
          <p:cNvSpPr txBox="1">
            <a:spLocks/>
          </p:cNvSpPr>
          <p:nvPr/>
        </p:nvSpPr>
        <p:spPr>
          <a:xfrm>
            <a:off x="8994600" y="3696968"/>
            <a:ext cx="2130973" cy="2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Genetic Algorithm </a:t>
            </a:r>
          </a:p>
          <a:p>
            <a:pPr algn="ctr"/>
            <a:r>
              <a:rPr lang="en-GB" kern="0" dirty="0"/>
              <a:t> </a:t>
            </a:r>
          </a:p>
        </p:txBody>
      </p:sp>
      <p:sp>
        <p:nvSpPr>
          <p:cNvPr id="3" name="Google Shape;399;p44">
            <a:extLst>
              <a:ext uri="{FF2B5EF4-FFF2-40B4-BE49-F238E27FC236}">
                <a16:creationId xmlns:a16="http://schemas.microsoft.com/office/drawing/2014/main" id="{71D26A3E-B4A9-D535-353D-1667E3CEE328}"/>
              </a:ext>
            </a:extLst>
          </p:cNvPr>
          <p:cNvSpPr txBox="1">
            <a:spLocks/>
          </p:cNvSpPr>
          <p:nvPr/>
        </p:nvSpPr>
        <p:spPr>
          <a:xfrm>
            <a:off x="2793797" y="3687824"/>
            <a:ext cx="1959568" cy="2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MIP</a:t>
            </a:r>
            <a:endParaRPr lang="en-GB" kern="0" dirty="0"/>
          </a:p>
        </p:txBody>
      </p:sp>
      <p:sp>
        <p:nvSpPr>
          <p:cNvPr id="4" name="Google Shape;399;p44">
            <a:extLst>
              <a:ext uri="{FF2B5EF4-FFF2-40B4-BE49-F238E27FC236}">
                <a16:creationId xmlns:a16="http://schemas.microsoft.com/office/drawing/2014/main" id="{1E7730B6-25BD-4F81-6A87-78C6BE383903}"/>
              </a:ext>
            </a:extLst>
          </p:cNvPr>
          <p:cNvSpPr txBox="1">
            <a:spLocks/>
          </p:cNvSpPr>
          <p:nvPr/>
        </p:nvSpPr>
        <p:spPr>
          <a:xfrm>
            <a:off x="426327" y="3687824"/>
            <a:ext cx="2398015" cy="2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Data challenges: formatting, redundant entries, conflicting details</a:t>
            </a:r>
          </a:p>
          <a:p>
            <a:pPr algn="ctr"/>
            <a:r>
              <a:rPr lang="en-GB" kern="0" dirty="0"/>
              <a:t> </a:t>
            </a:r>
          </a:p>
        </p:txBody>
      </p:sp>
      <p:sp>
        <p:nvSpPr>
          <p:cNvPr id="5" name="Google Shape;399;p44">
            <a:extLst>
              <a:ext uri="{FF2B5EF4-FFF2-40B4-BE49-F238E27FC236}">
                <a16:creationId xmlns:a16="http://schemas.microsoft.com/office/drawing/2014/main" id="{E1235BFA-C1A2-FD7D-681F-3D8C1FA16BCC}"/>
              </a:ext>
            </a:extLst>
          </p:cNvPr>
          <p:cNvSpPr txBox="1">
            <a:spLocks/>
          </p:cNvSpPr>
          <p:nvPr/>
        </p:nvSpPr>
        <p:spPr>
          <a:xfrm>
            <a:off x="6899723" y="3691000"/>
            <a:ext cx="2079492" cy="2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Apply lessons learned to entire school set</a:t>
            </a:r>
          </a:p>
          <a:p>
            <a:pPr algn="ctr"/>
            <a:r>
              <a:rPr lang="en-GB" kern="0" dirty="0"/>
              <a:t>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B83944-539C-6794-B247-6665F0F4EAA0}"/>
              </a:ext>
            </a:extLst>
          </p:cNvPr>
          <p:cNvCxnSpPr/>
          <p:nvPr/>
        </p:nvCxnSpPr>
        <p:spPr>
          <a:xfrm>
            <a:off x="2778411" y="3304007"/>
            <a:ext cx="0" cy="3187389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40672F-D7DE-EB08-C6CF-8FD740D3C508}"/>
              </a:ext>
            </a:extLst>
          </p:cNvPr>
          <p:cNvCxnSpPr/>
          <p:nvPr/>
        </p:nvCxnSpPr>
        <p:spPr>
          <a:xfrm>
            <a:off x="4850474" y="3304007"/>
            <a:ext cx="0" cy="3187389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939EBF-2A24-B79D-758E-0709253D04B6}"/>
              </a:ext>
            </a:extLst>
          </p:cNvPr>
          <p:cNvCxnSpPr/>
          <p:nvPr/>
        </p:nvCxnSpPr>
        <p:spPr>
          <a:xfrm>
            <a:off x="6923711" y="3304006"/>
            <a:ext cx="0" cy="3187389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04A81C1-CDF8-7758-089D-9D6BEA2731F0}"/>
              </a:ext>
            </a:extLst>
          </p:cNvPr>
          <p:cNvCxnSpPr/>
          <p:nvPr/>
        </p:nvCxnSpPr>
        <p:spPr>
          <a:xfrm>
            <a:off x="8994600" y="3304006"/>
            <a:ext cx="0" cy="3187389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" name="Google Shape;430;p46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FDF0B8CF-36A5-1FAB-C30F-EC981D89D234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2290E2D-E20F-CAB9-942F-54D07B72DAA3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92987BB2-07D0-F492-C881-911956757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6A407456-FC63-9039-B809-E9530DB822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9A8C36E-0BD8-1032-7551-29E268FCB4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59E69371-577A-1A8D-2A0F-9314D06312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B62C4CB-C8A6-28E2-4FD0-92B78D377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4A8E964-6C42-FE1D-AB1F-349977126452}"/>
              </a:ext>
            </a:extLst>
          </p:cNvPr>
          <p:cNvSpPr/>
          <p:nvPr/>
        </p:nvSpPr>
        <p:spPr>
          <a:xfrm>
            <a:off x="11068986" y="605797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Google Shape;406;p45">
            <a:extLst>
              <a:ext uri="{FF2B5EF4-FFF2-40B4-BE49-F238E27FC236}">
                <a16:creationId xmlns:a16="http://schemas.microsoft.com/office/drawing/2014/main" id="{E84F0CA7-699D-0BE8-C86E-3DB471123EB0}"/>
              </a:ext>
            </a:extLst>
          </p:cNvPr>
          <p:cNvSpPr txBox="1">
            <a:spLocks/>
          </p:cNvSpPr>
          <p:nvPr/>
        </p:nvSpPr>
        <p:spPr>
          <a:xfrm>
            <a:off x="964165" y="450639"/>
            <a:ext cx="10270067" cy="76411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500" b="1" kern="0" dirty="0"/>
              <a:t>Vet School Results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239E705C-0CDA-4127-9A04-CE3427ADD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240" y="1245469"/>
            <a:ext cx="7791335" cy="516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2404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" name="Google Shape;430;p46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FDF0B8CF-36A5-1FAB-C30F-EC981D89D234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2290E2D-E20F-CAB9-942F-54D07B72DAA3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92987BB2-07D0-F492-C881-911956757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6A407456-FC63-9039-B809-E9530DB822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9A8C36E-0BD8-1032-7551-29E268FCB4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59E69371-577A-1A8D-2A0F-9314D06312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B62C4CB-C8A6-28E2-4FD0-92B78D377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84A8E964-6C42-FE1D-AB1F-349977126452}"/>
              </a:ext>
            </a:extLst>
          </p:cNvPr>
          <p:cNvSpPr/>
          <p:nvPr/>
        </p:nvSpPr>
        <p:spPr>
          <a:xfrm>
            <a:off x="11068986" y="605797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Google Shape;406;p45">
            <a:extLst>
              <a:ext uri="{FF2B5EF4-FFF2-40B4-BE49-F238E27FC236}">
                <a16:creationId xmlns:a16="http://schemas.microsoft.com/office/drawing/2014/main" id="{E84F0CA7-699D-0BE8-C86E-3DB471123EB0}"/>
              </a:ext>
            </a:extLst>
          </p:cNvPr>
          <p:cNvSpPr txBox="1">
            <a:spLocks/>
          </p:cNvSpPr>
          <p:nvPr/>
        </p:nvSpPr>
        <p:spPr>
          <a:xfrm>
            <a:off x="964165" y="450639"/>
            <a:ext cx="10270067" cy="76411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500" b="1" kern="0" dirty="0"/>
              <a:t>B</a:t>
            </a:r>
            <a:r>
              <a:rPr lang="en-GB" sz="3500" b="1" kern="0" dirty="0" err="1"/>
              <a:t>aseline</a:t>
            </a:r>
            <a:r>
              <a:rPr lang="en-GB" sz="3500" b="1" kern="0" dirty="0"/>
              <a:t>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449CC2-0B98-CCE0-0AED-9FC724D79D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241" y="1234052"/>
            <a:ext cx="7741518" cy="51610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>
          <a:extLst>
            <a:ext uri="{FF2B5EF4-FFF2-40B4-BE49-F238E27FC236}">
              <a16:creationId xmlns:a16="http://schemas.microsoft.com/office/drawing/2014/main" id="{A77ACCB9-3692-2764-9906-EEB2EE874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" name="Google Shape;430;p46">
            <a:extLst>
              <a:ext uri="{FF2B5EF4-FFF2-40B4-BE49-F238E27FC236}">
                <a16:creationId xmlns:a16="http://schemas.microsoft.com/office/drawing/2014/main" id="{3CAD2473-A6E0-DC3A-F5C5-978EA00A512F}"/>
              </a:ext>
            </a:extLst>
          </p:cNvPr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11D07E67-7C08-C204-6F44-2079B38D9929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73DB0F5-5778-3FDC-7D90-CA5D84F6AFFF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932534FA-E726-5752-C409-E8A66C7D29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52C8CA49-A861-18AC-032F-769E62BB18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3FAFDF3-A266-7B63-2711-E4CAAB9141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EB109FE-47F0-B4CE-DF8A-495C8BA75F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07DBA75-444A-2AD9-54AA-6083D058D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39E7DA60-B344-92F7-09A6-C61116D12210}"/>
              </a:ext>
            </a:extLst>
          </p:cNvPr>
          <p:cNvSpPr/>
          <p:nvPr/>
        </p:nvSpPr>
        <p:spPr>
          <a:xfrm>
            <a:off x="11068986" y="605797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Google Shape;406;p45">
            <a:extLst>
              <a:ext uri="{FF2B5EF4-FFF2-40B4-BE49-F238E27FC236}">
                <a16:creationId xmlns:a16="http://schemas.microsoft.com/office/drawing/2014/main" id="{DE5FED49-4A12-5067-4ADE-69A6D5182334}"/>
              </a:ext>
            </a:extLst>
          </p:cNvPr>
          <p:cNvSpPr txBox="1">
            <a:spLocks/>
          </p:cNvSpPr>
          <p:nvPr/>
        </p:nvSpPr>
        <p:spPr>
          <a:xfrm>
            <a:off x="1062567" y="453444"/>
            <a:ext cx="10270067" cy="76411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500" b="1" kern="0" dirty="0"/>
              <a:t>Improved Model Results</a:t>
            </a:r>
            <a:endParaRPr lang="en-GB" sz="3500" b="1" kern="0" dirty="0"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8F66AFC3-9D51-4856-BF55-60CC888DB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241" y="1235978"/>
            <a:ext cx="7741518" cy="516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1219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 txBox="1">
            <a:spLocks noGrp="1"/>
          </p:cNvSpPr>
          <p:nvPr>
            <p:ph type="title" idx="6"/>
          </p:nvPr>
        </p:nvSpPr>
        <p:spPr>
          <a:xfrm>
            <a:off x="960967" y="694267"/>
            <a:ext cx="10270067" cy="7641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US" dirty="0"/>
              <a:t>M</a:t>
            </a:r>
            <a:r>
              <a:rPr lang="en-GB" dirty="0" err="1"/>
              <a:t>etrics</a:t>
            </a:r>
            <a:endParaRPr lang="en-GB" noProof="0" dirty="0"/>
          </a:p>
        </p:txBody>
      </p:sp>
      <p:cxnSp>
        <p:nvCxnSpPr>
          <p:cNvPr id="422" name="Google Shape;422;p45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092FEEC-3791-DAB2-4BDC-7D19FA75D34C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008EB64-222E-5D6C-4186-1AE6C024BA6B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A9EBE51-2C90-582C-92F8-04543FA40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F1BD6AB-38C5-9CEB-F731-8BF6E3765C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3DE94DBC-1A8E-688B-20C0-DB953AB325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00E66B75-25DC-AD53-7A65-F9D87BB932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52055FB-46C6-4AC3-DA81-33ACD31AB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1B2F6407-4E38-51E5-F126-9F91E4923B1E}"/>
              </a:ext>
            </a:extLst>
          </p:cNvPr>
          <p:cNvSpPr/>
          <p:nvPr/>
        </p:nvSpPr>
        <p:spPr>
          <a:xfrm>
            <a:off x="11009443" y="605797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2" name="Google Shape;631;p53">
            <a:extLst>
              <a:ext uri="{FF2B5EF4-FFF2-40B4-BE49-F238E27FC236}">
                <a16:creationId xmlns:a16="http://schemas.microsoft.com/office/drawing/2014/main" id="{C61B8160-D3A3-69B0-A42A-C09CADB9CF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4420518"/>
              </p:ext>
            </p:extLst>
          </p:nvPr>
        </p:nvGraphicFramePr>
        <p:xfrm>
          <a:off x="2157268" y="1970950"/>
          <a:ext cx="7877463" cy="44193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27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3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5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4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dirty="0">
                          <a:latin typeface="Nunito"/>
                          <a:ea typeface="Nunito"/>
                          <a:cs typeface="Nunito"/>
                          <a:sym typeface="Nunito"/>
                        </a:rPr>
                        <a:t>Violations</a:t>
                      </a: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Base</a:t>
                      </a:r>
                      <a:endParaRPr sz="3200" dirty="0"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2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Improved</a:t>
                      </a:r>
                      <a:endParaRPr sz="3200" dirty="0">
                        <a:latin typeface="Abril Fatface"/>
                        <a:ea typeface="Abril Fatface"/>
                        <a:cs typeface="Abril Fatface"/>
                        <a:sym typeface="Abril Fatface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Clashes</a:t>
                      </a: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dirty="0">
                          <a:latin typeface="Nunito"/>
                          <a:ea typeface="Nunito"/>
                          <a:cs typeface="Nunito"/>
                          <a:sym typeface="Nunito"/>
                        </a:rPr>
                        <a:t>9,431</a:t>
                      </a: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dirty="0">
                          <a:latin typeface="Nunito"/>
                          <a:ea typeface="Nunito"/>
                          <a:cs typeface="Nunito"/>
                          <a:sym typeface="Nunito"/>
                        </a:rPr>
                        <a:t>8,019</a:t>
                      </a: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Lunch Break</a:t>
                      </a: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dirty="0">
                          <a:latin typeface="Nunito"/>
                          <a:ea typeface="Nunito"/>
                          <a:cs typeface="Nunito"/>
                          <a:sym typeface="Nunito"/>
                        </a:rPr>
                        <a:t>0</a:t>
                      </a: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dirty="0">
                          <a:latin typeface="Nunito"/>
                          <a:ea typeface="Nunito"/>
                          <a:cs typeface="Nunito"/>
                          <a:sym typeface="Nunito"/>
                        </a:rPr>
                        <a:t>0</a:t>
                      </a: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4812882"/>
                  </a:ext>
                </a:extLst>
              </a:tr>
              <a:tr h="65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After 5pm</a:t>
                      </a: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dirty="0"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dirty="0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27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&gt; 6hr / day</a:t>
                      </a: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dirty="0">
                          <a:latin typeface="Nunito"/>
                          <a:ea typeface="Nunito"/>
                          <a:cs typeface="Nunito"/>
                          <a:sym typeface="Nunito"/>
                        </a:rPr>
                        <a:t>33,268</a:t>
                      </a: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dirty="0">
                          <a:latin typeface="Nunito"/>
                          <a:ea typeface="Nunito"/>
                          <a:cs typeface="Nunito"/>
                          <a:sym typeface="Nunito"/>
                        </a:rPr>
                        <a:t>33,189</a:t>
                      </a: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35179"/>
                  </a:ext>
                </a:extLst>
              </a:tr>
              <a:tr h="650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700" dirty="0">
                          <a:latin typeface="Abril Fatface"/>
                          <a:ea typeface="Abril Fatface"/>
                          <a:cs typeface="Abril Fatface"/>
                          <a:sym typeface="Abril Fatface"/>
                        </a:rPr>
                        <a:t>Friday Afternoons</a:t>
                      </a: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dirty="0"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500" dirty="0">
                          <a:latin typeface="Nunito"/>
                          <a:ea typeface="Nunito"/>
                          <a:cs typeface="Nunito"/>
                          <a:sym typeface="Nunito"/>
                        </a:rPr>
                        <a:t>14</a:t>
                      </a:r>
                      <a:endParaRPr sz="2500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121900" marR="121900" marT="121900" marB="12190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0"/>
          <p:cNvSpPr txBox="1">
            <a:spLocks noGrp="1"/>
          </p:cNvSpPr>
          <p:nvPr>
            <p:ph type="title"/>
          </p:nvPr>
        </p:nvSpPr>
        <p:spPr>
          <a:xfrm>
            <a:off x="960967" y="694267"/>
            <a:ext cx="10270067" cy="7641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Considerations</a:t>
            </a:r>
          </a:p>
        </p:txBody>
      </p:sp>
      <p:cxnSp>
        <p:nvCxnSpPr>
          <p:cNvPr id="494" name="Google Shape;494;p50"/>
          <p:cNvCxnSpPr>
            <a:stCxn id="495" idx="2"/>
            <a:endCxn id="496" idx="0"/>
          </p:cNvCxnSpPr>
          <p:nvPr/>
        </p:nvCxnSpPr>
        <p:spPr>
          <a:xfrm rot="-5400000" flipH="1">
            <a:off x="7190400" y="1561484"/>
            <a:ext cx="1418000" cy="36068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97" name="Google Shape;497;p50"/>
          <p:cNvCxnSpPr>
            <a:stCxn id="498" idx="0"/>
            <a:endCxn id="495" idx="2"/>
          </p:cNvCxnSpPr>
          <p:nvPr/>
        </p:nvCxnSpPr>
        <p:spPr>
          <a:xfrm rot="-5400000">
            <a:off x="3583600" y="1561467"/>
            <a:ext cx="1418000" cy="36068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499" name="Google Shape;499;p50"/>
          <p:cNvCxnSpPr>
            <a:stCxn id="500" idx="0"/>
            <a:endCxn id="498" idx="2"/>
          </p:cNvCxnSpPr>
          <p:nvPr/>
        </p:nvCxnSpPr>
        <p:spPr>
          <a:xfrm rot="-5400000">
            <a:off x="2175200" y="4876333"/>
            <a:ext cx="628800" cy="800"/>
          </a:xfrm>
          <a:prstGeom prst="bentConnector3">
            <a:avLst>
              <a:gd name="adj1" fmla="val 50005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501" name="Google Shape;501;p50"/>
          <p:cNvCxnSpPr>
            <a:stCxn id="496" idx="2"/>
            <a:endCxn id="502" idx="0"/>
          </p:cNvCxnSpPr>
          <p:nvPr/>
        </p:nvCxnSpPr>
        <p:spPr>
          <a:xfrm rot="-5400000" flipH="1">
            <a:off x="9388800" y="4876267"/>
            <a:ext cx="628800" cy="800"/>
          </a:xfrm>
          <a:prstGeom prst="bentConnector3">
            <a:avLst>
              <a:gd name="adj1" fmla="val 50005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95" name="Google Shape;495;p50"/>
          <p:cNvSpPr txBox="1"/>
          <p:nvPr/>
        </p:nvSpPr>
        <p:spPr>
          <a:xfrm>
            <a:off x="4191000" y="1853484"/>
            <a:ext cx="3810000" cy="802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GB" sz="3000" kern="0" noProof="0" dirty="0">
                <a:solidFill>
                  <a:srgbClr val="302926"/>
                </a:solidFill>
                <a:latin typeface="Arial" panose="020B0604020202020204" pitchFamily="34" charset="0"/>
                <a:ea typeface="Abril Fatface"/>
                <a:cs typeface="Arial" panose="020B0604020202020204" pitchFamily="34" charset="0"/>
                <a:sym typeface="Abril Fatface"/>
              </a:rPr>
              <a:t>Improve OR Efficacy</a:t>
            </a:r>
          </a:p>
        </p:txBody>
      </p:sp>
      <p:sp>
        <p:nvSpPr>
          <p:cNvPr id="498" name="Google Shape;498;p50"/>
          <p:cNvSpPr txBox="1"/>
          <p:nvPr/>
        </p:nvSpPr>
        <p:spPr>
          <a:xfrm>
            <a:off x="1163200" y="4073867"/>
            <a:ext cx="2652000" cy="488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GB" sz="3200" kern="0" noProof="0" dirty="0">
                <a:solidFill>
                  <a:srgbClr val="302926"/>
                </a:solidFill>
                <a:latin typeface="Arial" panose="020B0604020202020204" pitchFamily="34" charset="0"/>
                <a:ea typeface="Abril Fatface"/>
                <a:cs typeface="Arial" panose="020B0604020202020204" pitchFamily="34" charset="0"/>
                <a:sym typeface="Abril Fatface"/>
              </a:rPr>
              <a:t>Suitability</a:t>
            </a:r>
          </a:p>
        </p:txBody>
      </p:sp>
      <p:sp>
        <p:nvSpPr>
          <p:cNvPr id="496" name="Google Shape;496;p50"/>
          <p:cNvSpPr txBox="1"/>
          <p:nvPr/>
        </p:nvSpPr>
        <p:spPr>
          <a:xfrm>
            <a:off x="8376800" y="4073867"/>
            <a:ext cx="2652000" cy="488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GB" sz="3200" kern="0" dirty="0">
                <a:solidFill>
                  <a:srgbClr val="302926"/>
                </a:solidFill>
                <a:latin typeface="Arial" panose="020B0604020202020204" pitchFamily="34" charset="0"/>
                <a:ea typeface="Abril Fatface"/>
                <a:cs typeface="Arial" panose="020B0604020202020204" pitchFamily="34" charset="0"/>
                <a:sym typeface="Abril Fatface"/>
              </a:rPr>
              <a:t>Constraints</a:t>
            </a:r>
          </a:p>
        </p:txBody>
      </p:sp>
      <p:sp>
        <p:nvSpPr>
          <p:cNvPr id="502" name="Google Shape;502;p50"/>
          <p:cNvSpPr txBox="1"/>
          <p:nvPr/>
        </p:nvSpPr>
        <p:spPr>
          <a:xfrm>
            <a:off x="8164400" y="5191133"/>
            <a:ext cx="3076800" cy="9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1867" kern="0" noProof="0" dirty="0">
                <a:solidFill>
                  <a:srgbClr val="302926"/>
                </a:solidFill>
                <a:latin typeface="Nunito"/>
                <a:ea typeface="Nunito"/>
                <a:cs typeface="Nunito"/>
                <a:sym typeface="Nunito"/>
              </a:rPr>
              <a:t>Many relaxations required</a:t>
            </a:r>
            <a:endParaRPr lang="en-GB" sz="1867" kern="0" noProof="0" dirty="0">
              <a:solidFill>
                <a:srgbClr val="30292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0" name="Google Shape;500;p50"/>
          <p:cNvSpPr txBox="1"/>
          <p:nvPr/>
        </p:nvSpPr>
        <p:spPr>
          <a:xfrm>
            <a:off x="950800" y="5191133"/>
            <a:ext cx="3076800" cy="9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GB" sz="1867" kern="0" noProof="0" dirty="0">
                <a:solidFill>
                  <a:srgbClr val="302926"/>
                </a:solidFill>
                <a:latin typeface="Nunito"/>
                <a:ea typeface="Nunito"/>
                <a:cs typeface="Nunito"/>
                <a:sym typeface="Nunito"/>
              </a:rPr>
              <a:t>Well suited to problem</a:t>
            </a:r>
          </a:p>
        </p:txBody>
      </p:sp>
      <p:sp>
        <p:nvSpPr>
          <p:cNvPr id="503" name="Google Shape;503;p50"/>
          <p:cNvSpPr txBox="1"/>
          <p:nvPr/>
        </p:nvSpPr>
        <p:spPr>
          <a:xfrm>
            <a:off x="4770000" y="4073867"/>
            <a:ext cx="2652000" cy="488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200" kern="0" noProof="0" dirty="0">
                <a:solidFill>
                  <a:srgbClr val="302926"/>
                </a:solidFill>
                <a:latin typeface="Arial" panose="020B0604020202020204" pitchFamily="34" charset="0"/>
                <a:ea typeface="Abril Fatface"/>
                <a:cs typeface="Arial" panose="020B0604020202020204" pitchFamily="34" charset="0"/>
                <a:sym typeface="Abril Fatface"/>
              </a:rPr>
              <a:t>Formulation</a:t>
            </a:r>
            <a:endParaRPr lang="en-GB" sz="3200" kern="0" noProof="0" dirty="0">
              <a:solidFill>
                <a:srgbClr val="302926"/>
              </a:solidFill>
              <a:latin typeface="Arial" panose="020B0604020202020204" pitchFamily="34" charset="0"/>
              <a:ea typeface="Abril Fatface"/>
              <a:cs typeface="Arial" panose="020B0604020202020204" pitchFamily="34" charset="0"/>
              <a:sym typeface="Abril Fatface"/>
            </a:endParaRPr>
          </a:p>
        </p:txBody>
      </p:sp>
      <p:cxnSp>
        <p:nvCxnSpPr>
          <p:cNvPr id="504" name="Google Shape;504;p50"/>
          <p:cNvCxnSpPr>
            <a:stCxn id="495" idx="2"/>
            <a:endCxn id="503" idx="0"/>
          </p:cNvCxnSpPr>
          <p:nvPr/>
        </p:nvCxnSpPr>
        <p:spPr>
          <a:xfrm>
            <a:off x="6096000" y="2655884"/>
            <a:ext cx="0" cy="141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506" name="Google Shape;506;p50"/>
          <p:cNvSpPr txBox="1"/>
          <p:nvPr/>
        </p:nvSpPr>
        <p:spPr>
          <a:xfrm>
            <a:off x="4375223" y="5191133"/>
            <a:ext cx="3441553" cy="9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1867" kern="0" dirty="0">
                <a:solidFill>
                  <a:srgbClr val="302926"/>
                </a:solidFill>
                <a:latin typeface="Nunito"/>
                <a:ea typeface="Nunito"/>
                <a:cs typeface="Nunito"/>
                <a:sym typeface="Nunito"/>
              </a:rPr>
              <a:t>L</a:t>
            </a:r>
            <a:r>
              <a:rPr lang="en-GB" sz="1867" kern="0" dirty="0" err="1">
                <a:solidFill>
                  <a:srgbClr val="302926"/>
                </a:solidFill>
                <a:latin typeface="Nunito"/>
                <a:ea typeface="Nunito"/>
                <a:cs typeface="Nunito"/>
                <a:sym typeface="Nunito"/>
              </a:rPr>
              <a:t>arge</a:t>
            </a:r>
            <a:r>
              <a:rPr lang="en-GB" sz="1867" kern="0" dirty="0">
                <a:solidFill>
                  <a:srgbClr val="302926"/>
                </a:solidFill>
                <a:latin typeface="Nunito"/>
                <a:ea typeface="Nunito"/>
                <a:cs typeface="Nunito"/>
                <a:sym typeface="Nunito"/>
              </a:rPr>
              <a:t> problem space with high computational demands</a:t>
            </a:r>
            <a:endParaRPr lang="en-GB" sz="1867" kern="0" noProof="0" dirty="0">
              <a:solidFill>
                <a:srgbClr val="30292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07" name="Google Shape;507;p50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D96A3A87-12CF-7C77-C663-FAF3078044F7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BC54AF-E6F6-9876-C594-E94EF09FBEC0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5FB04BE-29DA-8826-3398-54562B03C2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B4BB22C1-45E9-AF50-EBAE-9474722C22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BAFE530C-2BAA-FF38-1162-48ABED5D4D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269E070D-9155-8B8A-C4C9-ADD4B33B29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6892ECF-DBD3-CC28-E0F7-F7C5AA59E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AB28140-5A31-B053-34C6-D4C17CF8FD0E}"/>
              </a:ext>
            </a:extLst>
          </p:cNvPr>
          <p:cNvSpPr/>
          <p:nvPr/>
        </p:nvSpPr>
        <p:spPr>
          <a:xfrm>
            <a:off x="12351465" y="5952214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Google Shape;501;p50">
            <a:extLst>
              <a:ext uri="{FF2B5EF4-FFF2-40B4-BE49-F238E27FC236}">
                <a16:creationId xmlns:a16="http://schemas.microsoft.com/office/drawing/2014/main" id="{FDC57360-5439-4FA4-AD65-4C4EBF35810A}"/>
              </a:ext>
            </a:extLst>
          </p:cNvPr>
          <p:cNvCxnSpPr/>
          <p:nvPr/>
        </p:nvCxnSpPr>
        <p:spPr>
          <a:xfrm rot="-5400000" flipH="1">
            <a:off x="5781199" y="4876267"/>
            <a:ext cx="628800" cy="800"/>
          </a:xfrm>
          <a:prstGeom prst="bentConnector3">
            <a:avLst>
              <a:gd name="adj1" fmla="val 50005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>
          <a:extLst>
            <a:ext uri="{FF2B5EF4-FFF2-40B4-BE49-F238E27FC236}">
              <a16:creationId xmlns:a16="http://schemas.microsoft.com/office/drawing/2014/main" id="{12D34A5B-D093-B91E-4A67-49BEC293F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" name="Google Shape;430;p46">
            <a:extLst>
              <a:ext uri="{FF2B5EF4-FFF2-40B4-BE49-F238E27FC236}">
                <a16:creationId xmlns:a16="http://schemas.microsoft.com/office/drawing/2014/main" id="{262397F7-5269-8285-5485-9AEA490E68DC}"/>
              </a:ext>
            </a:extLst>
          </p:cNvPr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C021FA2-88DA-20C4-DBE4-438723B4EA29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9DD6AFF-07F2-5F4A-88F9-930E098B5E18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771963F-EF34-1596-4640-3AD8618FC9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974EEFC5-0C15-7F79-D0AA-F09096CFF8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1A04A87-A5B6-9A3B-635D-6D3DBB532E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C5A3B7EF-E09F-8740-0B3F-45F1946719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31FD210-0EF5-DD9D-B955-B6544C905E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15" name="Google Shape;406;p45">
            <a:extLst>
              <a:ext uri="{FF2B5EF4-FFF2-40B4-BE49-F238E27FC236}">
                <a16:creationId xmlns:a16="http://schemas.microsoft.com/office/drawing/2014/main" id="{491DB457-226D-D928-0A98-503C5DC161F7}"/>
              </a:ext>
            </a:extLst>
          </p:cNvPr>
          <p:cNvSpPr txBox="1">
            <a:spLocks/>
          </p:cNvSpPr>
          <p:nvPr/>
        </p:nvSpPr>
        <p:spPr>
          <a:xfrm>
            <a:off x="960967" y="694267"/>
            <a:ext cx="10270067" cy="76411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3500" b="1" kern="0" dirty="0"/>
              <a:t>Recommendations</a:t>
            </a:r>
          </a:p>
        </p:txBody>
      </p:sp>
      <p:sp>
        <p:nvSpPr>
          <p:cNvPr id="2" name="Google Shape;249;p35">
            <a:extLst>
              <a:ext uri="{FF2B5EF4-FFF2-40B4-BE49-F238E27FC236}">
                <a16:creationId xmlns:a16="http://schemas.microsoft.com/office/drawing/2014/main" id="{BF125AF0-F9C4-97B8-F997-CF203B3C873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30290" y="3210972"/>
            <a:ext cx="11202155" cy="10689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82600" lvl="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Refine data entry</a:t>
            </a:r>
          </a:p>
          <a:p>
            <a:pPr marL="4826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Tiered 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deconfliction meetings</a:t>
            </a:r>
          </a:p>
          <a:p>
            <a:pPr marL="4826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Tracked “sub” degrees</a:t>
            </a:r>
          </a:p>
          <a:p>
            <a:pPr marL="4826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Push for fu</a:t>
            </a:r>
            <a:r>
              <a:rPr lang="en-GB" sz="2800" dirty="0" err="1">
                <a:latin typeface="Arial" panose="020B0604020202020204" pitchFamily="34" charset="0"/>
                <a:cs typeface="Arial" panose="020B0604020202020204" pitchFamily="34" charset="0"/>
              </a:rPr>
              <a:t>ndamental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changes in teaching format</a:t>
            </a:r>
            <a:endParaRPr lang="en-GB" sz="2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0" name="Google Shape;463;p49">
            <a:extLst>
              <a:ext uri="{FF2B5EF4-FFF2-40B4-BE49-F238E27FC236}">
                <a16:creationId xmlns:a16="http://schemas.microsoft.com/office/drawing/2014/main" id="{7A93A3D6-695A-B34D-A2CB-95C758766C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1369" y="4962035"/>
            <a:ext cx="2174882" cy="702733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sz="1800" noProof="0" dirty="0"/>
              <a:t>Data Restructuring</a:t>
            </a:r>
          </a:p>
        </p:txBody>
      </p:sp>
      <p:sp>
        <p:nvSpPr>
          <p:cNvPr id="421" name="Google Shape;465;p49">
            <a:extLst>
              <a:ext uri="{FF2B5EF4-FFF2-40B4-BE49-F238E27FC236}">
                <a16:creationId xmlns:a16="http://schemas.microsoft.com/office/drawing/2014/main" id="{57A5F40B-B131-2796-CAB2-14CF49027EEB}"/>
              </a:ext>
            </a:extLst>
          </p:cNvPr>
          <p:cNvSpPr txBox="1">
            <a:spLocks/>
          </p:cNvSpPr>
          <p:nvPr/>
        </p:nvSpPr>
        <p:spPr>
          <a:xfrm>
            <a:off x="9015036" y="4962036"/>
            <a:ext cx="1664625" cy="702733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kern="0" dirty="0"/>
              <a:t>D</a:t>
            </a:r>
            <a:r>
              <a:rPr lang="en-GB" kern="0" dirty="0" err="1"/>
              <a:t>aily</a:t>
            </a:r>
            <a:r>
              <a:rPr lang="en-GB" kern="0" dirty="0"/>
              <a:t> Layout  </a:t>
            </a:r>
          </a:p>
        </p:txBody>
      </p:sp>
      <p:sp>
        <p:nvSpPr>
          <p:cNvPr id="422" name="Google Shape;467;p49">
            <a:extLst>
              <a:ext uri="{FF2B5EF4-FFF2-40B4-BE49-F238E27FC236}">
                <a16:creationId xmlns:a16="http://schemas.microsoft.com/office/drawing/2014/main" id="{A19F01F1-DC0D-2541-B192-C1EF9125E967}"/>
              </a:ext>
            </a:extLst>
          </p:cNvPr>
          <p:cNvSpPr txBox="1">
            <a:spLocks/>
          </p:cNvSpPr>
          <p:nvPr/>
        </p:nvSpPr>
        <p:spPr>
          <a:xfrm>
            <a:off x="4832431" y="4948753"/>
            <a:ext cx="1972576" cy="702733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kern="0" dirty="0"/>
              <a:t>Degree Options</a:t>
            </a:r>
          </a:p>
        </p:txBody>
      </p:sp>
      <p:grpSp>
        <p:nvGrpSpPr>
          <p:cNvPr id="423" name="Group 422">
            <a:extLst>
              <a:ext uri="{FF2B5EF4-FFF2-40B4-BE49-F238E27FC236}">
                <a16:creationId xmlns:a16="http://schemas.microsoft.com/office/drawing/2014/main" id="{22AD575F-EAF4-2124-C165-DFD305FDF657}"/>
              </a:ext>
            </a:extLst>
          </p:cNvPr>
          <p:cNvGrpSpPr/>
          <p:nvPr/>
        </p:nvGrpSpPr>
        <p:grpSpPr>
          <a:xfrm>
            <a:off x="1242701" y="5651486"/>
            <a:ext cx="2029911" cy="208400"/>
            <a:chOff x="1593879" y="3101999"/>
            <a:chExt cx="2029911" cy="208400"/>
          </a:xfrm>
        </p:grpSpPr>
        <p:grpSp>
          <p:nvGrpSpPr>
            <p:cNvPr id="424" name="Google Shape;481;p49">
              <a:extLst>
                <a:ext uri="{FF2B5EF4-FFF2-40B4-BE49-F238E27FC236}">
                  <a16:creationId xmlns:a16="http://schemas.microsoft.com/office/drawing/2014/main" id="{16DD511D-4D06-4214-5688-18C633B7F886}"/>
                </a:ext>
              </a:extLst>
            </p:cNvPr>
            <p:cNvGrpSpPr/>
            <p:nvPr/>
          </p:nvGrpSpPr>
          <p:grpSpPr>
            <a:xfrm>
              <a:off x="1593879" y="3101999"/>
              <a:ext cx="1574534" cy="208400"/>
              <a:chOff x="3158416" y="3903808"/>
              <a:chExt cx="1180900" cy="156300"/>
            </a:xfrm>
          </p:grpSpPr>
          <p:sp>
            <p:nvSpPr>
              <p:cNvPr id="426" name="Google Shape;482;p49">
                <a:extLst>
                  <a:ext uri="{FF2B5EF4-FFF2-40B4-BE49-F238E27FC236}">
                    <a16:creationId xmlns:a16="http://schemas.microsoft.com/office/drawing/2014/main" id="{478EB4EA-544E-7283-25DD-76514EDEBC87}"/>
                  </a:ext>
                </a:extLst>
              </p:cNvPr>
              <p:cNvSpPr/>
              <p:nvPr/>
            </p:nvSpPr>
            <p:spPr>
              <a:xfrm flipH="1">
                <a:off x="3158416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83;p49">
                <a:extLst>
                  <a:ext uri="{FF2B5EF4-FFF2-40B4-BE49-F238E27FC236}">
                    <a16:creationId xmlns:a16="http://schemas.microsoft.com/office/drawing/2014/main" id="{38F62FAC-4ED1-7E49-CAEB-28443AF8187A}"/>
                  </a:ext>
                </a:extLst>
              </p:cNvPr>
              <p:cNvSpPr/>
              <p:nvPr/>
            </p:nvSpPr>
            <p:spPr>
              <a:xfrm flipH="1">
                <a:off x="3499949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84;p49">
                <a:extLst>
                  <a:ext uri="{FF2B5EF4-FFF2-40B4-BE49-F238E27FC236}">
                    <a16:creationId xmlns:a16="http://schemas.microsoft.com/office/drawing/2014/main" id="{4448BC35-102D-EA7D-82E8-6FEACF2ACD20}"/>
                  </a:ext>
                </a:extLst>
              </p:cNvPr>
              <p:cNvSpPr/>
              <p:nvPr/>
            </p:nvSpPr>
            <p:spPr>
              <a:xfrm flipH="1">
                <a:off x="3841483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85;p49">
                <a:extLst>
                  <a:ext uri="{FF2B5EF4-FFF2-40B4-BE49-F238E27FC236}">
                    <a16:creationId xmlns:a16="http://schemas.microsoft.com/office/drawing/2014/main" id="{EEEE5B8A-3E1C-F05D-B915-5D372126F978}"/>
                  </a:ext>
                </a:extLst>
              </p:cNvPr>
              <p:cNvSpPr/>
              <p:nvPr/>
            </p:nvSpPr>
            <p:spPr>
              <a:xfrm flipH="1">
                <a:off x="4183016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5" name="Google Shape;485;p49">
              <a:extLst>
                <a:ext uri="{FF2B5EF4-FFF2-40B4-BE49-F238E27FC236}">
                  <a16:creationId xmlns:a16="http://schemas.microsoft.com/office/drawing/2014/main" id="{6862B9AC-77FF-2064-AF11-4A8864158A67}"/>
                </a:ext>
              </a:extLst>
            </p:cNvPr>
            <p:cNvSpPr/>
            <p:nvPr/>
          </p:nvSpPr>
          <p:spPr>
            <a:xfrm flipH="1">
              <a:off x="3415390" y="3101999"/>
              <a:ext cx="208400" cy="2084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31" name="Group 430">
            <a:extLst>
              <a:ext uri="{FF2B5EF4-FFF2-40B4-BE49-F238E27FC236}">
                <a16:creationId xmlns:a16="http://schemas.microsoft.com/office/drawing/2014/main" id="{0FB71E26-264B-37B8-00B9-80A85B42BB42}"/>
              </a:ext>
            </a:extLst>
          </p:cNvPr>
          <p:cNvGrpSpPr/>
          <p:nvPr/>
        </p:nvGrpSpPr>
        <p:grpSpPr>
          <a:xfrm flipH="1">
            <a:off x="4809857" y="5656964"/>
            <a:ext cx="2029911" cy="208400"/>
            <a:chOff x="5076513" y="3101999"/>
            <a:chExt cx="2029911" cy="208400"/>
          </a:xfrm>
        </p:grpSpPr>
        <p:grpSp>
          <p:nvGrpSpPr>
            <p:cNvPr id="432" name="Google Shape;475;p49">
              <a:extLst>
                <a:ext uri="{FF2B5EF4-FFF2-40B4-BE49-F238E27FC236}">
                  <a16:creationId xmlns:a16="http://schemas.microsoft.com/office/drawing/2014/main" id="{3E356A48-E147-AEFE-EA39-881CE1D834A1}"/>
                </a:ext>
              </a:extLst>
            </p:cNvPr>
            <p:cNvGrpSpPr/>
            <p:nvPr/>
          </p:nvGrpSpPr>
          <p:grpSpPr>
            <a:xfrm>
              <a:off x="5076513" y="3101999"/>
              <a:ext cx="2029911" cy="208400"/>
              <a:chOff x="3158416" y="3903808"/>
              <a:chExt cx="1522433" cy="156300"/>
            </a:xfrm>
          </p:grpSpPr>
          <p:sp>
            <p:nvSpPr>
              <p:cNvPr id="434" name="Google Shape;476;p49">
                <a:extLst>
                  <a:ext uri="{FF2B5EF4-FFF2-40B4-BE49-F238E27FC236}">
                    <a16:creationId xmlns:a16="http://schemas.microsoft.com/office/drawing/2014/main" id="{FC660B96-E097-BBBB-4C52-03561571CE36}"/>
                  </a:ext>
                </a:extLst>
              </p:cNvPr>
              <p:cNvSpPr/>
              <p:nvPr/>
            </p:nvSpPr>
            <p:spPr>
              <a:xfrm flipH="1">
                <a:off x="3158416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77;p49">
                <a:extLst>
                  <a:ext uri="{FF2B5EF4-FFF2-40B4-BE49-F238E27FC236}">
                    <a16:creationId xmlns:a16="http://schemas.microsoft.com/office/drawing/2014/main" id="{BD27AB02-2C3A-32A2-0578-54F96DFD27BE}"/>
                  </a:ext>
                </a:extLst>
              </p:cNvPr>
              <p:cNvSpPr/>
              <p:nvPr/>
            </p:nvSpPr>
            <p:spPr>
              <a:xfrm flipH="1">
                <a:off x="3499949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78;p49">
                <a:extLst>
                  <a:ext uri="{FF2B5EF4-FFF2-40B4-BE49-F238E27FC236}">
                    <a16:creationId xmlns:a16="http://schemas.microsoft.com/office/drawing/2014/main" id="{5E22BBB5-5510-4493-2811-21FB322432C7}"/>
                  </a:ext>
                </a:extLst>
              </p:cNvPr>
              <p:cNvSpPr/>
              <p:nvPr/>
            </p:nvSpPr>
            <p:spPr>
              <a:xfrm flipH="1">
                <a:off x="3841483" y="3903808"/>
                <a:ext cx="156300" cy="156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80;p49">
                <a:extLst>
                  <a:ext uri="{FF2B5EF4-FFF2-40B4-BE49-F238E27FC236}">
                    <a16:creationId xmlns:a16="http://schemas.microsoft.com/office/drawing/2014/main" id="{D3913947-6707-E173-F71B-E64199ABEC04}"/>
                  </a:ext>
                </a:extLst>
              </p:cNvPr>
              <p:cNvSpPr/>
              <p:nvPr/>
            </p:nvSpPr>
            <p:spPr>
              <a:xfrm flipH="1">
                <a:off x="4524549" y="3903808"/>
                <a:ext cx="156300" cy="1563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3" name="Google Shape;480;p49">
              <a:extLst>
                <a:ext uri="{FF2B5EF4-FFF2-40B4-BE49-F238E27FC236}">
                  <a16:creationId xmlns:a16="http://schemas.microsoft.com/office/drawing/2014/main" id="{919C335C-E8D4-9020-D3F3-DD0971C8253E}"/>
                </a:ext>
              </a:extLst>
            </p:cNvPr>
            <p:cNvSpPr/>
            <p:nvPr/>
          </p:nvSpPr>
          <p:spPr>
            <a:xfrm flipH="1">
              <a:off x="6442645" y="3101999"/>
              <a:ext cx="208400" cy="2084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438" name="Group 437">
            <a:extLst>
              <a:ext uri="{FF2B5EF4-FFF2-40B4-BE49-F238E27FC236}">
                <a16:creationId xmlns:a16="http://schemas.microsoft.com/office/drawing/2014/main" id="{75C7EE3F-5642-F74E-6B3A-6FE548AB77B6}"/>
              </a:ext>
            </a:extLst>
          </p:cNvPr>
          <p:cNvGrpSpPr/>
          <p:nvPr/>
        </p:nvGrpSpPr>
        <p:grpSpPr>
          <a:xfrm>
            <a:off x="8832395" y="5655244"/>
            <a:ext cx="2029911" cy="217925"/>
            <a:chOff x="8832395" y="3101999"/>
            <a:chExt cx="2029911" cy="217925"/>
          </a:xfrm>
        </p:grpSpPr>
        <p:grpSp>
          <p:nvGrpSpPr>
            <p:cNvPr id="439" name="Group 438">
              <a:extLst>
                <a:ext uri="{FF2B5EF4-FFF2-40B4-BE49-F238E27FC236}">
                  <a16:creationId xmlns:a16="http://schemas.microsoft.com/office/drawing/2014/main" id="{1F0A4EA4-7D01-64EC-40C7-3D28175FC10D}"/>
                </a:ext>
              </a:extLst>
            </p:cNvPr>
            <p:cNvGrpSpPr/>
            <p:nvPr/>
          </p:nvGrpSpPr>
          <p:grpSpPr>
            <a:xfrm flipH="1">
              <a:off x="8832395" y="3101999"/>
              <a:ext cx="2029911" cy="208400"/>
              <a:chOff x="5076513" y="3101999"/>
              <a:chExt cx="2029911" cy="208400"/>
            </a:xfrm>
          </p:grpSpPr>
          <p:grpSp>
            <p:nvGrpSpPr>
              <p:cNvPr id="442" name="Google Shape;475;p49">
                <a:extLst>
                  <a:ext uri="{FF2B5EF4-FFF2-40B4-BE49-F238E27FC236}">
                    <a16:creationId xmlns:a16="http://schemas.microsoft.com/office/drawing/2014/main" id="{E982A6AF-1ACB-F718-F9BD-934908500117}"/>
                  </a:ext>
                </a:extLst>
              </p:cNvPr>
              <p:cNvGrpSpPr/>
              <p:nvPr/>
            </p:nvGrpSpPr>
            <p:grpSpPr>
              <a:xfrm>
                <a:off x="5076513" y="3101999"/>
                <a:ext cx="2029911" cy="208400"/>
                <a:chOff x="3158416" y="3903808"/>
                <a:chExt cx="1522433" cy="156300"/>
              </a:xfrm>
            </p:grpSpPr>
            <p:sp>
              <p:nvSpPr>
                <p:cNvPr id="444" name="Google Shape;476;p49">
                  <a:extLst>
                    <a:ext uri="{FF2B5EF4-FFF2-40B4-BE49-F238E27FC236}">
                      <a16:creationId xmlns:a16="http://schemas.microsoft.com/office/drawing/2014/main" id="{4D19E9B8-35E7-39DA-7B45-D8201D0E292A}"/>
                    </a:ext>
                  </a:extLst>
                </p:cNvPr>
                <p:cNvSpPr/>
                <p:nvPr/>
              </p:nvSpPr>
              <p:spPr>
                <a:xfrm flipH="1">
                  <a:off x="3158416" y="3903808"/>
                  <a:ext cx="156300" cy="156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5" name="Google Shape;480;p49">
                  <a:extLst>
                    <a:ext uri="{FF2B5EF4-FFF2-40B4-BE49-F238E27FC236}">
                      <a16:creationId xmlns:a16="http://schemas.microsoft.com/office/drawing/2014/main" id="{D0E82AAB-6544-B1D6-167E-952E25DC0992}"/>
                    </a:ext>
                  </a:extLst>
                </p:cNvPr>
                <p:cNvSpPr/>
                <p:nvPr/>
              </p:nvSpPr>
              <p:spPr>
                <a:xfrm flipH="1">
                  <a:off x="4524549" y="3903808"/>
                  <a:ext cx="156300" cy="156300"/>
                </a:xfrm>
                <a:prstGeom prst="rect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lang="en-GB" sz="1867" kern="0" noProof="0" dirty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43" name="Google Shape;480;p49">
                <a:extLst>
                  <a:ext uri="{FF2B5EF4-FFF2-40B4-BE49-F238E27FC236}">
                    <a16:creationId xmlns:a16="http://schemas.microsoft.com/office/drawing/2014/main" id="{2CAA370B-DAC7-C836-6965-AAE4472F8ACE}"/>
                  </a:ext>
                </a:extLst>
              </p:cNvPr>
              <p:cNvSpPr/>
              <p:nvPr/>
            </p:nvSpPr>
            <p:spPr>
              <a:xfrm flipH="1">
                <a:off x="6442645" y="3101999"/>
                <a:ext cx="208400" cy="2084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0" name="Google Shape;480;p49">
              <a:extLst>
                <a:ext uri="{FF2B5EF4-FFF2-40B4-BE49-F238E27FC236}">
                  <a16:creationId xmlns:a16="http://schemas.microsoft.com/office/drawing/2014/main" id="{9CB0342D-2DC0-53D8-9602-1FBAB9DE2181}"/>
                </a:ext>
              </a:extLst>
            </p:cNvPr>
            <p:cNvSpPr/>
            <p:nvPr/>
          </p:nvSpPr>
          <p:spPr>
            <a:xfrm>
              <a:off x="9743149" y="3101999"/>
              <a:ext cx="208400" cy="2084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1" name="Google Shape;480;p49">
              <a:extLst>
                <a:ext uri="{FF2B5EF4-FFF2-40B4-BE49-F238E27FC236}">
                  <a16:creationId xmlns:a16="http://schemas.microsoft.com/office/drawing/2014/main" id="{0AC7F0CC-E68B-CA37-E5ED-9EC3106E2005}"/>
                </a:ext>
              </a:extLst>
            </p:cNvPr>
            <p:cNvSpPr/>
            <p:nvPr/>
          </p:nvSpPr>
          <p:spPr>
            <a:xfrm>
              <a:off x="10198524" y="3111524"/>
              <a:ext cx="208400" cy="2084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lang="en-GB" sz="1867" kern="0" noProof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5277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62"/>
          <p:cNvSpPr txBox="1">
            <a:spLocks noGrp="1"/>
          </p:cNvSpPr>
          <p:nvPr>
            <p:ph type="title"/>
          </p:nvPr>
        </p:nvSpPr>
        <p:spPr/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GB" noProof="0" dirty="0"/>
              <a:t>Thank You</a:t>
            </a:r>
          </a:p>
        </p:txBody>
      </p:sp>
      <p:sp>
        <p:nvSpPr>
          <p:cNvPr id="805" name="Google Shape;805;p62"/>
          <p:cNvSpPr txBox="1">
            <a:spLocks noGrp="1"/>
          </p:cNvSpPr>
          <p:nvPr>
            <p:ph type="subTitle" idx="1"/>
          </p:nvPr>
        </p:nvSpPr>
        <p:spPr/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Do you have any questions?</a:t>
            </a:r>
          </a:p>
          <a:p>
            <a:pPr lvl="0"/>
            <a:endParaRPr lang="en-GB" noProof="0" dirty="0"/>
          </a:p>
        </p:txBody>
      </p:sp>
      <p:cxnSp>
        <p:nvCxnSpPr>
          <p:cNvPr id="821" name="Google Shape;821;p62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D91E3BC-38FB-55F7-25EB-DF3AA8BE8BC2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C498FD9-97A5-6445-ED58-0C59A18A0FDB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8F8CFFF-FD8B-A661-84EF-CAAABEB562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58DE113D-9B69-8306-5A69-DC61DBCB5F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715FCD3-E617-373D-5873-C17E4A82E4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EC3839F-5F42-43A8-5053-0D795897F2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91A1950-AFC5-40B5-26DC-684E92CDF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"/>
          <p:cNvSpPr txBox="1">
            <a:spLocks noGrp="1"/>
          </p:cNvSpPr>
          <p:nvPr>
            <p:ph type="title"/>
          </p:nvPr>
        </p:nvSpPr>
        <p:spPr>
          <a:xfrm>
            <a:off x="960967" y="694267"/>
            <a:ext cx="10270067" cy="764117"/>
          </a:xfr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lvl="0"/>
            <a:r>
              <a:rPr lang="en-GB" noProof="0" dirty="0"/>
              <a:t>Example New Teaching Format</a:t>
            </a:r>
          </a:p>
        </p:txBody>
      </p:sp>
      <p:sp>
        <p:nvSpPr>
          <p:cNvPr id="399" name="Google Shape;399;p44"/>
          <p:cNvSpPr txBox="1">
            <a:spLocks noGrp="1"/>
          </p:cNvSpPr>
          <p:nvPr>
            <p:ph type="subTitle" idx="1"/>
          </p:nvPr>
        </p:nvSpPr>
        <p:spPr>
          <a:xfrm>
            <a:off x="4678682" y="3732633"/>
            <a:ext cx="2221041" cy="2937400"/>
          </a:xfr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0900- Simulation</a:t>
            </a:r>
          </a:p>
          <a:p>
            <a:pPr marL="139700" indent="0" algn="ctr"/>
            <a:endParaRPr lang="en-GB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1100- TOR</a:t>
            </a:r>
          </a:p>
          <a:p>
            <a:pPr marL="139700" indent="0" algn="ctr"/>
            <a:endParaRPr lang="en-GB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1500- Credit Scoring</a:t>
            </a:r>
          </a:p>
          <a:p>
            <a:pPr lvl="0" algn="ctr"/>
            <a:r>
              <a:rPr lang="en-GB" noProof="0" dirty="0"/>
              <a:t> </a:t>
            </a:r>
          </a:p>
        </p:txBody>
      </p:sp>
      <p:cxnSp>
        <p:nvCxnSpPr>
          <p:cNvPr id="400" name="Google Shape;400;p44"/>
          <p:cNvCxnSpPr>
            <a:cxnSpLocks/>
          </p:cNvCxnSpPr>
          <p:nvPr/>
        </p:nvCxnSpPr>
        <p:spPr>
          <a:xfrm>
            <a:off x="-442400" y="6491396"/>
            <a:ext cx="888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142876-E108-6E6B-037E-07BE700FCE48}"/>
              </a:ext>
            </a:extLst>
          </p:cNvPr>
          <p:cNvGrpSpPr/>
          <p:nvPr/>
        </p:nvGrpSpPr>
        <p:grpSpPr>
          <a:xfrm>
            <a:off x="9678128" y="6035681"/>
            <a:ext cx="2059798" cy="640704"/>
            <a:chOff x="9678128" y="6035681"/>
            <a:chExt cx="2059798" cy="64070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A18A93D-34B1-CD3F-4FDD-EFF48F26CC0A}"/>
                </a:ext>
              </a:extLst>
            </p:cNvPr>
            <p:cNvGrpSpPr/>
            <p:nvPr/>
          </p:nvGrpSpPr>
          <p:grpSpPr>
            <a:xfrm>
              <a:off x="9678128" y="6173607"/>
              <a:ext cx="2059798" cy="502778"/>
              <a:chOff x="9678128" y="6173607"/>
              <a:chExt cx="2059798" cy="502778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D29E1D4-DA4A-3564-192C-B6AA22DBE3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27511" t="54513" r="28725" b="14019"/>
              <a:stretch>
                <a:fillRect/>
              </a:stretch>
            </p:blipFill>
            <p:spPr>
              <a:xfrm>
                <a:off x="9678128" y="6414047"/>
                <a:ext cx="338447" cy="243357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82FE823A-2479-BAB7-EE47-8E9FEF13E6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5111" t="44910" r="15666" b="10517"/>
              <a:stretch>
                <a:fillRect/>
              </a:stretch>
            </p:blipFill>
            <p:spPr>
              <a:xfrm>
                <a:off x="10076118" y="6395064"/>
                <a:ext cx="436891" cy="281321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95586DA9-9E9D-F840-28D0-A05D26E3E4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13778" t="36666" r="14340" b="4266"/>
              <a:stretch>
                <a:fillRect/>
              </a:stretch>
            </p:blipFill>
            <p:spPr>
              <a:xfrm>
                <a:off x="10572552" y="6314738"/>
                <a:ext cx="436891" cy="358996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B434AAE8-0D95-C8DD-AFDF-F21181BFA8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2A2827">
                      <a:alpha val="29804"/>
                    </a:srgbClr>
                  </a:clrFrom>
                  <a:clrTo>
                    <a:srgbClr val="2A2827">
                      <a:alpha val="0"/>
                    </a:srgbClr>
                  </a:clrTo>
                </a:clrChange>
              </a:blip>
              <a:srcRect l="6533" t="33374" r="6362" b="2946"/>
              <a:stretch>
                <a:fillRect/>
              </a:stretch>
            </p:blipFill>
            <p:spPr>
              <a:xfrm>
                <a:off x="11068986" y="6173607"/>
                <a:ext cx="668940" cy="493792"/>
              </a:xfrm>
              <a:prstGeom prst="rect">
                <a:avLst/>
              </a:prstGeom>
            </p:spPr>
          </p:pic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3607639-F642-E8E1-F182-647FC9407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234232" y="6035681"/>
              <a:ext cx="338447" cy="338447"/>
            </a:xfrm>
            <a:prstGeom prst="rect">
              <a:avLst/>
            </a:prstGeom>
          </p:spPr>
        </p:pic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6F1B3C-858F-1141-9826-D3D683D6A258}"/>
              </a:ext>
            </a:extLst>
          </p:cNvPr>
          <p:cNvSpPr/>
          <p:nvPr/>
        </p:nvSpPr>
        <p:spPr>
          <a:xfrm>
            <a:off x="10543779" y="6057979"/>
            <a:ext cx="1959567" cy="725048"/>
          </a:xfrm>
          <a:prstGeom prst="rect">
            <a:avLst/>
          </a:prstGeom>
          <a:solidFill>
            <a:srgbClr val="E7E7E7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DF55E71-F504-3936-2F4A-FC77CD9D6FA5}"/>
              </a:ext>
            </a:extLst>
          </p:cNvPr>
          <p:cNvGrpSpPr/>
          <p:nvPr/>
        </p:nvGrpSpPr>
        <p:grpSpPr>
          <a:xfrm>
            <a:off x="707520" y="1820161"/>
            <a:ext cx="10776959" cy="1483846"/>
            <a:chOff x="454075" y="4458505"/>
            <a:chExt cx="10776959" cy="1483846"/>
          </a:xfrm>
        </p:grpSpPr>
        <p:grpSp>
          <p:nvGrpSpPr>
            <p:cNvPr id="19" name="Google Shape;4185;p71">
              <a:extLst>
                <a:ext uri="{FF2B5EF4-FFF2-40B4-BE49-F238E27FC236}">
                  <a16:creationId xmlns:a16="http://schemas.microsoft.com/office/drawing/2014/main" id="{33B1C2E5-BA46-F71C-B735-7574B1061117}"/>
                </a:ext>
              </a:extLst>
            </p:cNvPr>
            <p:cNvGrpSpPr/>
            <p:nvPr/>
          </p:nvGrpSpPr>
          <p:grpSpPr>
            <a:xfrm>
              <a:off x="454075" y="4458505"/>
              <a:ext cx="10776959" cy="1483846"/>
              <a:chOff x="238125" y="2506075"/>
              <a:chExt cx="7115411" cy="673075"/>
            </a:xfrm>
          </p:grpSpPr>
          <p:sp>
            <p:nvSpPr>
              <p:cNvPr id="20" name="Google Shape;4186;p71">
                <a:extLst>
                  <a:ext uri="{FF2B5EF4-FFF2-40B4-BE49-F238E27FC236}">
                    <a16:creationId xmlns:a16="http://schemas.microsoft.com/office/drawing/2014/main" id="{00B42F2D-55B6-1B73-26F9-EABBFA10CAB9}"/>
                  </a:ext>
                </a:extLst>
              </p:cNvPr>
              <p:cNvSpPr/>
              <p:nvPr/>
            </p:nvSpPr>
            <p:spPr>
              <a:xfrm>
                <a:off x="238125" y="2506075"/>
                <a:ext cx="1643150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26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43" y="26923"/>
                    </a:lnTo>
                    <a:lnTo>
                      <a:pt x="65725" y="13477"/>
                    </a:lnTo>
                    <a:lnTo>
                      <a:pt x="54943" y="0"/>
                    </a:lnTo>
                    <a:close/>
                  </a:path>
                </a:pathLst>
              </a:custGeom>
              <a:solidFill>
                <a:srgbClr val="B4B2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187;p71">
                <a:extLst>
                  <a:ext uri="{FF2B5EF4-FFF2-40B4-BE49-F238E27FC236}">
                    <a16:creationId xmlns:a16="http://schemas.microsoft.com/office/drawing/2014/main" id="{8B676551-B31B-0538-4AAE-62156ECA4436}"/>
                  </a:ext>
                </a:extLst>
              </p:cNvPr>
              <p:cNvSpPr/>
              <p:nvPr/>
            </p:nvSpPr>
            <p:spPr>
              <a:xfrm>
                <a:off x="1606190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188;p71">
                <a:extLst>
                  <a:ext uri="{FF2B5EF4-FFF2-40B4-BE49-F238E27FC236}">
                    <a16:creationId xmlns:a16="http://schemas.microsoft.com/office/drawing/2014/main" id="{BA0652E6-47C4-8E0B-92E3-B9D4D44D5F87}"/>
                  </a:ext>
                </a:extLst>
              </p:cNvPr>
              <p:cNvSpPr/>
              <p:nvPr/>
            </p:nvSpPr>
            <p:spPr>
              <a:xfrm>
                <a:off x="2973481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rgbClr val="B4B2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189;p71">
                <a:extLst>
                  <a:ext uri="{FF2B5EF4-FFF2-40B4-BE49-F238E27FC236}">
                    <a16:creationId xmlns:a16="http://schemas.microsoft.com/office/drawing/2014/main" id="{B8DDC498-793F-AD30-6F5D-3292A458FE97}"/>
                  </a:ext>
                </a:extLst>
              </p:cNvPr>
              <p:cNvSpPr/>
              <p:nvPr/>
            </p:nvSpPr>
            <p:spPr>
              <a:xfrm>
                <a:off x="5709611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rgbClr val="B4B2A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4190;p71">
                <a:extLst>
                  <a:ext uri="{FF2B5EF4-FFF2-40B4-BE49-F238E27FC236}">
                    <a16:creationId xmlns:a16="http://schemas.microsoft.com/office/drawing/2014/main" id="{28C2AD15-B4B9-5AC9-E626-E51048898730}"/>
                  </a:ext>
                </a:extLst>
              </p:cNvPr>
              <p:cNvSpPr/>
              <p:nvPr/>
            </p:nvSpPr>
            <p:spPr>
              <a:xfrm>
                <a:off x="4342321" y="2506075"/>
                <a:ext cx="1643150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26" h="26923" extrusionOk="0">
                    <a:moveTo>
                      <a:pt x="1" y="0"/>
                    </a:moveTo>
                    <a:lnTo>
                      <a:pt x="10751" y="13477"/>
                    </a:lnTo>
                    <a:lnTo>
                      <a:pt x="1" y="26923"/>
                    </a:lnTo>
                    <a:lnTo>
                      <a:pt x="54944" y="26923"/>
                    </a:lnTo>
                    <a:lnTo>
                      <a:pt x="65726" y="13477"/>
                    </a:lnTo>
                    <a:lnTo>
                      <a:pt x="54944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lang="en-GB" sz="1867" kern="0" noProof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763FCD0-94BE-A2DD-8602-7F2C74FB8206}"/>
                </a:ext>
              </a:extLst>
            </p:cNvPr>
            <p:cNvSpPr txBox="1"/>
            <p:nvPr/>
          </p:nvSpPr>
          <p:spPr>
            <a:xfrm>
              <a:off x="5238750" y="5015762"/>
              <a:ext cx="15144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GB" noProof="0" dirty="0"/>
                <a:t>A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5DF1A75-A4B6-2428-F650-2C5143D83ADF}"/>
                </a:ext>
              </a:extLst>
            </p:cNvPr>
            <p:cNvSpPr txBox="1"/>
            <p:nvPr/>
          </p:nvSpPr>
          <p:spPr>
            <a:xfrm>
              <a:off x="1010491" y="4978332"/>
              <a:ext cx="15144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US" noProof="0" dirty="0"/>
                <a:t>A</a:t>
              </a:r>
              <a:endParaRPr lang="en-GB" noProof="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6684545-B64D-A247-6961-A5E9C261E230}"/>
                </a:ext>
              </a:extLst>
            </p:cNvPr>
            <p:cNvSpPr txBox="1"/>
            <p:nvPr/>
          </p:nvSpPr>
          <p:spPr>
            <a:xfrm>
              <a:off x="3012666" y="5006802"/>
              <a:ext cx="15144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US" noProof="0" dirty="0"/>
                <a:t>B</a:t>
              </a:r>
              <a:endParaRPr lang="en-GB" noProof="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81F05FA-99A6-76E7-7798-E6AFA5D2EC59}"/>
                </a:ext>
              </a:extLst>
            </p:cNvPr>
            <p:cNvSpPr txBox="1"/>
            <p:nvPr/>
          </p:nvSpPr>
          <p:spPr>
            <a:xfrm>
              <a:off x="7427503" y="5038418"/>
              <a:ext cx="15144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GB" noProof="0" dirty="0"/>
                <a:t>B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CD9F22A-B9C7-1A03-D4CA-9D954F915D04}"/>
                </a:ext>
              </a:extLst>
            </p:cNvPr>
            <p:cNvSpPr txBox="1"/>
            <p:nvPr/>
          </p:nvSpPr>
          <p:spPr>
            <a:xfrm>
              <a:off x="9278270" y="5047378"/>
              <a:ext cx="16739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/>
              <a:r>
                <a:rPr lang="en-GB" noProof="0" dirty="0"/>
                <a:t>A</a:t>
              </a:r>
            </a:p>
          </p:txBody>
        </p:sp>
      </p:grpSp>
      <p:sp>
        <p:nvSpPr>
          <p:cNvPr id="2" name="Google Shape;399;p44">
            <a:extLst>
              <a:ext uri="{FF2B5EF4-FFF2-40B4-BE49-F238E27FC236}">
                <a16:creationId xmlns:a16="http://schemas.microsoft.com/office/drawing/2014/main" id="{ED325A0F-9A21-455F-BEDC-61B0B74AAC1D}"/>
              </a:ext>
            </a:extLst>
          </p:cNvPr>
          <p:cNvSpPr txBox="1">
            <a:spLocks/>
          </p:cNvSpPr>
          <p:nvPr/>
        </p:nvSpPr>
        <p:spPr>
          <a:xfrm>
            <a:off x="8994600" y="3696968"/>
            <a:ext cx="2290618" cy="2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0900- Simulation</a:t>
            </a:r>
          </a:p>
          <a:p>
            <a:pPr marL="139700" indent="0" algn="ctr"/>
            <a:endParaRPr lang="en-GB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1100- TOR</a:t>
            </a:r>
          </a:p>
          <a:p>
            <a:pPr marL="139700" indent="0" algn="ctr"/>
            <a:endParaRPr lang="en-GB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1500- Credit Scoring</a:t>
            </a:r>
          </a:p>
        </p:txBody>
      </p:sp>
      <p:sp>
        <p:nvSpPr>
          <p:cNvPr id="3" name="Google Shape;399;p44">
            <a:extLst>
              <a:ext uri="{FF2B5EF4-FFF2-40B4-BE49-F238E27FC236}">
                <a16:creationId xmlns:a16="http://schemas.microsoft.com/office/drawing/2014/main" id="{71D26A3E-B4A9-D535-353D-1667E3CEE328}"/>
              </a:ext>
            </a:extLst>
          </p:cNvPr>
          <p:cNvSpPr txBox="1">
            <a:spLocks/>
          </p:cNvSpPr>
          <p:nvPr/>
        </p:nvSpPr>
        <p:spPr>
          <a:xfrm>
            <a:off x="2793797" y="3687824"/>
            <a:ext cx="1959568" cy="2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1000- Risk and Logistics</a:t>
            </a:r>
          </a:p>
          <a:p>
            <a:pPr marL="139700" indent="0" algn="ctr"/>
            <a:endParaRPr lang="en-GB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1200- OREI</a:t>
            </a:r>
          </a:p>
          <a:p>
            <a:pPr marL="139700" indent="0" algn="ctr"/>
            <a:endParaRPr lang="en-GB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1600- SRS</a:t>
            </a:r>
            <a:endParaRPr lang="en-GB" kern="0" dirty="0"/>
          </a:p>
        </p:txBody>
      </p:sp>
      <p:sp>
        <p:nvSpPr>
          <p:cNvPr id="4" name="Google Shape;399;p44">
            <a:extLst>
              <a:ext uri="{FF2B5EF4-FFF2-40B4-BE49-F238E27FC236}">
                <a16:creationId xmlns:a16="http://schemas.microsoft.com/office/drawing/2014/main" id="{1E7730B6-25BD-4F81-6A87-78C6BE383903}"/>
              </a:ext>
            </a:extLst>
          </p:cNvPr>
          <p:cNvSpPr txBox="1">
            <a:spLocks/>
          </p:cNvSpPr>
          <p:nvPr/>
        </p:nvSpPr>
        <p:spPr>
          <a:xfrm>
            <a:off x="426327" y="3687824"/>
            <a:ext cx="2398015" cy="2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0900- Simulation</a:t>
            </a:r>
          </a:p>
          <a:p>
            <a:pPr marL="139700" indent="0" algn="ctr"/>
            <a:endParaRPr lang="en-GB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1100- TOR</a:t>
            </a:r>
          </a:p>
          <a:p>
            <a:pPr marL="139700" indent="0" algn="ctr"/>
            <a:endParaRPr lang="en-GB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1500- Credit Scoring</a:t>
            </a:r>
          </a:p>
          <a:p>
            <a:pPr algn="ctr"/>
            <a:r>
              <a:rPr lang="en-GB" kern="0" dirty="0"/>
              <a:t> </a:t>
            </a:r>
          </a:p>
        </p:txBody>
      </p:sp>
      <p:sp>
        <p:nvSpPr>
          <p:cNvPr id="5" name="Google Shape;399;p44">
            <a:extLst>
              <a:ext uri="{FF2B5EF4-FFF2-40B4-BE49-F238E27FC236}">
                <a16:creationId xmlns:a16="http://schemas.microsoft.com/office/drawing/2014/main" id="{E1235BFA-C1A2-FD7D-681F-3D8C1FA16BCC}"/>
              </a:ext>
            </a:extLst>
          </p:cNvPr>
          <p:cNvSpPr txBox="1">
            <a:spLocks/>
          </p:cNvSpPr>
          <p:nvPr/>
        </p:nvSpPr>
        <p:spPr>
          <a:xfrm>
            <a:off x="6899723" y="3691000"/>
            <a:ext cx="2079492" cy="2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Nunito"/>
              <a:buNone/>
              <a:defRPr sz="1867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1000- Risk and Logistics</a:t>
            </a:r>
          </a:p>
          <a:p>
            <a:pPr marL="139700" indent="0" algn="ctr"/>
            <a:endParaRPr lang="en-GB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1200- OREI</a:t>
            </a:r>
          </a:p>
          <a:p>
            <a:pPr marL="139700" indent="0" algn="ctr"/>
            <a:endParaRPr lang="en-GB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9700" indent="0" algn="ctr"/>
            <a:r>
              <a:rPr lang="en-GB" kern="0" dirty="0">
                <a:latin typeface="Arial" panose="020B0604020202020204" pitchFamily="34" charset="0"/>
                <a:cs typeface="Arial" panose="020B0604020202020204" pitchFamily="34" charset="0"/>
              </a:rPr>
              <a:t>1600- SRS</a:t>
            </a:r>
            <a:endParaRPr lang="en-GB" kern="0" dirty="0"/>
          </a:p>
          <a:p>
            <a:pPr algn="ctr"/>
            <a:r>
              <a:rPr lang="en-GB" kern="0" dirty="0"/>
              <a:t>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B83944-539C-6794-B247-6665F0F4EAA0}"/>
              </a:ext>
            </a:extLst>
          </p:cNvPr>
          <p:cNvCxnSpPr/>
          <p:nvPr/>
        </p:nvCxnSpPr>
        <p:spPr>
          <a:xfrm>
            <a:off x="2778411" y="3304007"/>
            <a:ext cx="0" cy="3187389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40672F-D7DE-EB08-C6CF-8FD740D3C508}"/>
              </a:ext>
            </a:extLst>
          </p:cNvPr>
          <p:cNvCxnSpPr/>
          <p:nvPr/>
        </p:nvCxnSpPr>
        <p:spPr>
          <a:xfrm>
            <a:off x="4850474" y="3304007"/>
            <a:ext cx="0" cy="3187389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939EBF-2A24-B79D-758E-0709253D04B6}"/>
              </a:ext>
            </a:extLst>
          </p:cNvPr>
          <p:cNvCxnSpPr/>
          <p:nvPr/>
        </p:nvCxnSpPr>
        <p:spPr>
          <a:xfrm>
            <a:off x="6923711" y="3304006"/>
            <a:ext cx="0" cy="3187389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04A81C1-CDF8-7758-089D-9D6BEA2731F0}"/>
              </a:ext>
            </a:extLst>
          </p:cNvPr>
          <p:cNvCxnSpPr/>
          <p:nvPr/>
        </p:nvCxnSpPr>
        <p:spPr>
          <a:xfrm>
            <a:off x="8994600" y="3304006"/>
            <a:ext cx="0" cy="3187389"/>
          </a:xfrm>
          <a:prstGeom prst="line">
            <a:avLst/>
          </a:prstGeom>
          <a:ln>
            <a:solidFill>
              <a:schemeClr val="bg1">
                <a:lumMod val="1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376968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Lines Pitch Deck by Slidesgo">
  <a:themeElements>
    <a:clrScheme name="Simple Light">
      <a:dk1>
        <a:srgbClr val="302926"/>
      </a:dk1>
      <a:lt1>
        <a:srgbClr val="E7E7E7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926"/>
      </a:hlink>
      <a:folHlink>
        <a:srgbClr val="0097A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2949</TotalTime>
  <Words>334</Words>
  <Application>Microsoft Office PowerPoint</Application>
  <PresentationFormat>Widescreen</PresentationFormat>
  <Paragraphs>104</Paragraphs>
  <Slides>12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Abril Fatface</vt:lpstr>
      <vt:lpstr>Arial</vt:lpstr>
      <vt:lpstr>Calibri</vt:lpstr>
      <vt:lpstr>Nunito</vt:lpstr>
      <vt:lpstr>Elegant Lines Pitch Deck by Slidesgo</vt:lpstr>
      <vt:lpstr>Timetabling Improvements</vt:lpstr>
      <vt:lpstr>Time Goals</vt:lpstr>
      <vt:lpstr>Motivation</vt:lpstr>
      <vt:lpstr>Methods</vt:lpstr>
      <vt:lpstr>PowerPoint Presentation</vt:lpstr>
      <vt:lpstr>PowerPoint Presentation</vt:lpstr>
      <vt:lpstr>PowerPoint Presentation</vt:lpstr>
      <vt:lpstr>Metrics</vt:lpstr>
      <vt:lpstr>Considerations</vt:lpstr>
      <vt:lpstr>Data Restructuring</vt:lpstr>
      <vt:lpstr>Thank You</vt:lpstr>
      <vt:lpstr>Example New Teaching Format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Timetabling Improvements</dc:title>
  <dc:creator>Todd House</dc:creator>
  <cp:lastModifiedBy>Todd House</cp:lastModifiedBy>
  <cp:revision>26</cp:revision>
  <dcterms:created xsi:type="dcterms:W3CDTF">2026-03-14T17:52:05Z</dcterms:created>
  <dcterms:modified xsi:type="dcterms:W3CDTF">2026-03-30T21:04:04Z</dcterms:modified>
</cp:coreProperties>
</file>